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7" r:id="rId9"/>
    <p:sldId id="270" r:id="rId10"/>
    <p:sldId id="264" r:id="rId11"/>
    <p:sldId id="265" r:id="rId12"/>
    <p:sldId id="269" r:id="rId13"/>
    <p:sldId id="266" r:id="rId14"/>
    <p:sldId id="268" r:id="rId15"/>
  </p:sldIdLst>
  <p:sldSz cx="14630400" cy="8229600"/>
  <p:notesSz cx="6797675" cy="9872663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</p:embeddedFontLst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3793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6376" tIns="33188" rIns="66376" bIns="33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6376" tIns="33188" rIns="66376" bIns="3318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6376" tIns="33188" rIns="66376" bIns="33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6376" tIns="33188" rIns="66376" bIns="3318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6376" tIns="33188" rIns="66376" bIns="33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6376" tIns="33188" rIns="66376" bIns="3318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6376" tIns="33188" rIns="66376" bIns="33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6376" tIns="33188" rIns="66376" bIns="3318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6376" tIns="33188" rIns="66376" bIns="33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6376" tIns="33188" rIns="66376" bIns="3318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6376" tIns="33188" rIns="66376" bIns="33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6376" tIns="33188" rIns="66376" bIns="3318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6376" tIns="33188" rIns="66376" bIns="33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6376" tIns="33188" rIns="66376" bIns="3318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6376" tIns="33188" rIns="66376" bIns="33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6376" tIns="33188" rIns="66376" bIns="3318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6376" tIns="33188" rIns="66376" bIns="33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6376" tIns="33188" rIns="66376" bIns="3318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6376" tIns="33188" rIns="66376" bIns="33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6376" tIns="33188" rIns="66376" bIns="3318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9" y="1641038"/>
            <a:ext cx="3053798" cy="30537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641038"/>
            <a:ext cx="7556421" cy="425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003366"/>
                </a:solidFill>
                <a:latin typeface="Inter Bold" pitchFamily="34" charset="0"/>
                <a:ea typeface="Inter Bold" pitchFamily="34" charset="-122"/>
                <a:cs typeface="+mj-cs"/>
              </a:rPr>
              <a:t>شركة شمال الدلتا لتوزيع الكهرباء</a:t>
            </a:r>
            <a:endParaRPr lang="en-US" sz="8900" dirty="0">
              <a:cs typeface="+mj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5138530" y="5244861"/>
            <a:ext cx="8698080" cy="1513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003366"/>
                </a:solidFill>
                <a:latin typeface="Inter Bold" pitchFamily="34" charset="0"/>
                <a:ea typeface="Inter Bold" pitchFamily="34" charset="-122"/>
                <a:cs typeface="+mj-cs"/>
              </a:rPr>
              <a:t>قطاع العدادات وأجهزة القياس </a:t>
            </a:r>
            <a:r>
              <a:rPr lang="en-US" sz="3600" b="1" dirty="0" err="1">
                <a:solidFill>
                  <a:srgbClr val="003366"/>
                </a:solidFill>
                <a:latin typeface="Inter Bold" pitchFamily="34" charset="0"/>
                <a:ea typeface="Inter Bold" pitchFamily="34" charset="-122"/>
                <a:cs typeface="+mj-cs"/>
              </a:rPr>
              <a:t>والدفع</a:t>
            </a:r>
            <a:r>
              <a:rPr lang="en-US" sz="3600" b="1" dirty="0">
                <a:solidFill>
                  <a:srgbClr val="003366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en-US" sz="3600" b="1" dirty="0" err="1" smtClean="0">
                <a:solidFill>
                  <a:srgbClr val="003366"/>
                </a:solidFill>
                <a:latin typeface="Inter Bold" pitchFamily="34" charset="0"/>
                <a:ea typeface="Inter Bold" pitchFamily="34" charset="-122"/>
                <a:cs typeface="+mj-cs"/>
              </a:rPr>
              <a:t>المسبق</a:t>
            </a:r>
            <a:r>
              <a:rPr lang="en-US" sz="3600" b="1" dirty="0" smtClean="0">
                <a:solidFill>
                  <a:srgbClr val="003366"/>
                </a:solidFill>
                <a:latin typeface="Inter Bold" pitchFamily="34" charset="0"/>
                <a:ea typeface="Inter Bold" pitchFamily="34" charset="-122"/>
                <a:cs typeface="+mj-cs"/>
              </a:rPr>
              <a:t>  </a:t>
            </a:r>
            <a:endParaRPr lang="en-GB" sz="3600" b="1" dirty="0" smtClean="0">
              <a:solidFill>
                <a:srgbClr val="003366"/>
              </a:solidFill>
              <a:latin typeface="Inter Bold" pitchFamily="34" charset="0"/>
              <a:ea typeface="Inter Bold" pitchFamily="34" charset="-122"/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EG" sz="3600" b="1" dirty="0" smtClean="0">
                <a:solidFill>
                  <a:srgbClr val="FF0000"/>
                </a:solidFill>
                <a:latin typeface="Inter Bold" pitchFamily="34" charset="0"/>
                <a:ea typeface="Inter Bold" pitchFamily="34" charset="-122"/>
                <a:cs typeface="+mj-cs"/>
              </a:rPr>
              <a:t>الأدارة العامة للعدادات </a:t>
            </a:r>
            <a:r>
              <a:rPr lang="ar-EG" sz="3600" b="1" dirty="0" smtClean="0">
                <a:solidFill>
                  <a:srgbClr val="FF0000"/>
                </a:solidFill>
                <a:latin typeface="Inter Bold" pitchFamily="34" charset="0"/>
                <a:ea typeface="Inter Bold" pitchFamily="34" charset="-122"/>
                <a:cs typeface="+mj-cs"/>
              </a:rPr>
              <a:t>وأجهزة القياس </a:t>
            </a:r>
            <a:endParaRPr lang="en-US" sz="3600" dirty="0">
              <a:solidFill>
                <a:srgbClr val="FF0000"/>
              </a:solidFill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6021" y="21169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المحتوى</a:t>
            </a: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 :</a:t>
            </a:r>
            <a:r>
              <a:rPr lang="ar-EG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-</a:t>
            </a:r>
            <a:endParaRPr lang="en-US" sz="4450" dirty="0">
              <a:cs typeface="+mj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28667" y="3634383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2"/>
          <p:cNvSpPr/>
          <p:nvPr/>
        </p:nvSpPr>
        <p:spPr>
          <a:xfrm>
            <a:off x="9005054" y="3808690"/>
            <a:ext cx="48315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تركيبات العدادات الذكية بمحطات المحولات</a:t>
            </a:r>
            <a:endParaRPr lang="en-US" sz="2200" dirty="0">
              <a:cs typeface="+mj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28667" y="429910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317 عداد</a:t>
            </a:r>
            <a:endParaRPr lang="en-US" sz="1750" dirty="0">
              <a:cs typeface="+mj-cs"/>
            </a:endParaRPr>
          </a:p>
        </p:txBody>
      </p:sp>
      <p:sp>
        <p:nvSpPr>
          <p:cNvPr id="8" name="Shape 4"/>
          <p:cNvSpPr/>
          <p:nvPr/>
        </p:nvSpPr>
        <p:spPr>
          <a:xfrm>
            <a:off x="793790" y="3634383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5"/>
          <p:cNvSpPr/>
          <p:nvPr/>
        </p:nvSpPr>
        <p:spPr>
          <a:xfrm>
            <a:off x="4366617" y="38086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معايرة المحولات الرئيسية</a:t>
            </a:r>
            <a:endParaRPr lang="en-US" sz="2200" dirty="0">
              <a:cs typeface="+mj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93790" y="429910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GB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9</a:t>
            </a:r>
            <a:r>
              <a:rPr lang="ar-EG" sz="1750" b="1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b="1" dirty="0" err="1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محطة</a:t>
            </a:r>
            <a:endParaRPr lang="en-US" sz="1750" dirty="0">
              <a:cs typeface="+mj-cs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7428667" y="5413891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8"/>
          <p:cNvSpPr/>
          <p:nvPr/>
        </p:nvSpPr>
        <p:spPr>
          <a:xfrm>
            <a:off x="10000178" y="5588198"/>
            <a:ext cx="38364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كمية الطاقة المفقودة في المحطات</a:t>
            </a:r>
            <a:endParaRPr lang="en-US" sz="2200" dirty="0">
              <a:cs typeface="+mj-cs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793790" y="5413891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0"/>
          <p:cNvSpPr/>
          <p:nvPr/>
        </p:nvSpPr>
        <p:spPr>
          <a:xfrm>
            <a:off x="4180999" y="5588198"/>
            <a:ext cx="30208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اتزان محطة محولات شربين</a:t>
            </a:r>
            <a:endParaRPr lang="en-US" sz="2200" dirty="0"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6914" y="134710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أولاً: قطاع جنوب الدقهلية</a:t>
            </a:r>
            <a:endParaRPr lang="en-US" sz="3550" dirty="0"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732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إجمالي </a:t>
            </a:r>
            <a:r>
              <a:rPr lang="en-US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206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عداد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ذكي تم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تركيبها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8)  </a:t>
            </a:r>
            <a:r>
              <a:rPr lang="ar-EG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محطات 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(</a:t>
            </a:r>
            <a:endParaRPr lang="en-US" sz="1750" dirty="0">
              <a:cs typeface="+mj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40252" y="2591276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98210" y="28257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7" name="Text 4"/>
          <p:cNvSpPr/>
          <p:nvPr/>
        </p:nvSpPr>
        <p:spPr>
          <a:xfrm>
            <a:off x="10320814" y="3732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 </a:t>
            </a: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سندوب</a:t>
            </a:r>
            <a:endParaRPr lang="en-US" sz="2200" dirty="0">
              <a:cs typeface="+mj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9874687" y="4223385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26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21/12/2025</a:t>
            </a:r>
            <a:endParaRPr lang="en-US" sz="1750" dirty="0">
              <a:cs typeface="+mj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217081" y="2591276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53681" y="28257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12" name="Text 8"/>
          <p:cNvSpPr/>
          <p:nvPr/>
        </p:nvSpPr>
        <p:spPr>
          <a:xfrm>
            <a:off x="5897642" y="3732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 </a:t>
            </a: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غرب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طلخا</a:t>
            </a:r>
            <a:endParaRPr lang="en-US" sz="2200" dirty="0">
              <a:cs typeface="+mj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51515" y="4223385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30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4-5/1/2026</a:t>
            </a:r>
            <a:endParaRPr lang="en-US" sz="1750" dirty="0">
              <a:cs typeface="+mj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93909" y="2591276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51867" y="28257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  <p:txBody>
          <a:bodyPr/>
          <a:lstStyle/>
          <a:p>
            <a:pPr algn="ctr">
              <a:lnSpc>
                <a:spcPts val="3850"/>
              </a:lnSpc>
            </a:pPr>
            <a:r>
              <a:rPr lang="en-US" sz="2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</a:rPr>
              <a:t>3</a:t>
            </a:r>
            <a:endParaRPr lang="ar-EG" sz="2400" b="1" dirty="0">
              <a:solidFill>
                <a:srgbClr val="FFFFFF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474470" y="3732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 </a:t>
            </a: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ميت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الصارم</a:t>
            </a:r>
            <a:endParaRPr lang="en-US" sz="2200" dirty="0">
              <a:cs typeface="+mj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028343" y="4223385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27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10/1/2026</a:t>
            </a:r>
            <a:endParaRPr lang="en-US" sz="1750" dirty="0">
              <a:cs typeface="+mj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93909" y="5047536"/>
            <a:ext cx="13042702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75038" y="528197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  <p:txBody>
          <a:bodyPr/>
          <a:lstStyle/>
          <a:p>
            <a:pPr algn="ctr">
              <a:lnSpc>
                <a:spcPts val="3850"/>
              </a:lnSpc>
            </a:pPr>
            <a:r>
              <a:rPr lang="en-US" sz="2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</a:rPr>
              <a:t>4</a:t>
            </a:r>
            <a:endParaRPr lang="ar-EG" sz="2400" b="1" dirty="0">
              <a:solidFill>
                <a:srgbClr val="FFFFFF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897642" y="6189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 </a:t>
            </a: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غرب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المنصورة</a:t>
            </a:r>
            <a:endParaRPr lang="en-US" sz="2200" dirty="0">
              <a:cs typeface="+mj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028343" y="6679644"/>
            <a:ext cx="125738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28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25-26/1/2026</a:t>
            </a:r>
            <a:endParaRPr lang="en-US" sz="1750" dirty="0">
              <a:cs typeface="+mj-cs"/>
            </a:endParaRPr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33E5248B-ADF8-46A7-878E-3CCB7817D102}"/>
              </a:ext>
            </a:extLst>
          </p:cNvPr>
          <p:cNvSpPr/>
          <p:nvPr/>
        </p:nvSpPr>
        <p:spPr>
          <a:xfrm>
            <a:off x="6897758" y="619243"/>
            <a:ext cx="6905676" cy="66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36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تركيبات</a:t>
            </a:r>
            <a:r>
              <a:rPr lang="en-US" sz="3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en-US" sz="36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العدادات</a:t>
            </a:r>
            <a:r>
              <a:rPr lang="en-US" sz="3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en-US" sz="36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الذكية</a:t>
            </a:r>
            <a:r>
              <a:rPr lang="en-US" sz="3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en-US" sz="36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بمحطات</a:t>
            </a:r>
            <a:r>
              <a:rPr lang="en-US" sz="3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en-US" sz="36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المحولات</a:t>
            </a:r>
            <a:endParaRPr lang="en-US" sz="3600" dirty="0">
              <a:cs typeface="+mj-cs"/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CB3BF7C-D0C4-4DAF-9947-BA6CFB72213F}"/>
              </a:ext>
            </a:extLst>
          </p:cNvPr>
          <p:cNvSpPr/>
          <p:nvPr/>
        </p:nvSpPr>
        <p:spPr>
          <a:xfrm>
            <a:off x="11585377" y="2974538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570E442B-32A7-4966-8B73-D1275D65C3B5}"/>
              </a:ext>
            </a:extLst>
          </p:cNvPr>
          <p:cNvSpPr/>
          <p:nvPr/>
        </p:nvSpPr>
        <p:spPr>
          <a:xfrm>
            <a:off x="7240847" y="2896671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00091" y="95261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ar-EG" sz="3550" b="1" u="sng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تابع</a:t>
            </a:r>
            <a:r>
              <a:rPr lang="en-US" sz="3550" b="1" u="sng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: </a:t>
            </a:r>
            <a:r>
              <a:rPr lang="en-US" sz="3550" b="1" u="sng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قطاع</a:t>
            </a:r>
            <a:r>
              <a:rPr lang="en-US" sz="3550" b="1" u="sng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 جنوب الدقهلية</a:t>
            </a:r>
            <a:endParaRPr lang="en-US" sz="3550" u="sng" dirty="0">
              <a:cs typeface="+mj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40252" y="2591276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0033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98210" y="28257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3366"/>
          </a:solidFill>
          <a:ln/>
        </p:spPr>
        <p:txBody>
          <a:bodyPr/>
          <a:lstStyle/>
          <a:p>
            <a:endParaRPr lang="ar-EG" dirty="0">
              <a:cs typeface="+mj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585377" y="2974538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5</a:t>
            </a:r>
            <a:endParaRPr lang="en-US" sz="2400" dirty="0">
              <a:cs typeface="+mj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320814" y="3732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أجا</a:t>
            </a:r>
            <a:endParaRPr lang="en-US" sz="2200" dirty="0">
              <a:cs typeface="+mj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4687" y="4223385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22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ar-EG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7/2/2026</a:t>
            </a:r>
            <a:endParaRPr lang="en-US" sz="1750" dirty="0">
              <a:cs typeface="+mj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7081" y="2591276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0033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75038" y="28257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7162205" y="2974538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6</a:t>
            </a:r>
            <a:endParaRPr lang="en-US" sz="2400" dirty="0">
              <a:cs typeface="+mj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97642" y="3732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السنبلاوين الجديدة</a:t>
            </a:r>
            <a:endParaRPr lang="en-US" sz="2200" dirty="0">
              <a:cs typeface="+mj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51515" y="4223385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22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8/2/2026</a:t>
            </a:r>
            <a:endParaRPr lang="en-US" sz="1750" dirty="0">
              <a:cs typeface="+mj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3909" y="2591276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0033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1867" y="28257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3366"/>
          </a:solidFill>
          <a:ln/>
        </p:spPr>
      </p:sp>
      <p:sp>
        <p:nvSpPr>
          <p:cNvPr id="16" name="Text 14"/>
          <p:cNvSpPr/>
          <p:nvPr/>
        </p:nvSpPr>
        <p:spPr>
          <a:xfrm>
            <a:off x="2739033" y="2974538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7</a:t>
            </a:r>
            <a:endParaRPr lang="en-US" sz="2400" dirty="0">
              <a:cs typeface="+mj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74470" y="3732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السنبلاوين القديمة</a:t>
            </a:r>
            <a:endParaRPr lang="en-US" sz="2200" dirty="0">
              <a:cs typeface="+mj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8343" y="4223385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8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عدادات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14/2/2026</a:t>
            </a:r>
            <a:endParaRPr lang="en-US" sz="1750" dirty="0">
              <a:cs typeface="+mj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3909" y="5047536"/>
            <a:ext cx="13042702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0033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75038" y="528197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3366"/>
          </a:solidFill>
          <a:ln/>
        </p:spPr>
      </p:sp>
      <p:sp>
        <p:nvSpPr>
          <p:cNvPr id="21" name="Text 19"/>
          <p:cNvSpPr/>
          <p:nvPr/>
        </p:nvSpPr>
        <p:spPr>
          <a:xfrm>
            <a:off x="7162205" y="5430798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8</a:t>
            </a:r>
            <a:endParaRPr lang="en-US" sz="2400" dirty="0">
              <a:cs typeface="+mj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97642" y="6189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قولنجيل</a:t>
            </a:r>
            <a:endParaRPr lang="en-US" sz="2200" dirty="0">
              <a:cs typeface="+mj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28343" y="6679644"/>
            <a:ext cx="125738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33 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14-15/3/2026</a:t>
            </a:r>
            <a:endParaRPr lang="en-US" sz="1750" dirty="0"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328" y="1164312"/>
            <a:ext cx="454128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en-US" sz="3550" b="1" u="sng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ثانياً: قطاع شمال الدقهلية</a:t>
            </a:r>
            <a:endParaRPr lang="en-US" sz="3550" u="sng" dirty="0"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849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إجمالي </a:t>
            </a:r>
            <a:r>
              <a:rPr lang="en-US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62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عداد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ذكي تم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تركيبها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)</a:t>
            </a:r>
            <a:r>
              <a:rPr lang="en-GB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4</a:t>
            </a:r>
            <a:r>
              <a:rPr lang="ar-EG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err="1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محطات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(</a:t>
            </a:r>
            <a:endParaRPr lang="en-US" sz="1750" dirty="0">
              <a:cs typeface="+mj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40252" y="3143131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5" name="Shape 3"/>
          <p:cNvSpPr/>
          <p:nvPr/>
        </p:nvSpPr>
        <p:spPr>
          <a:xfrm>
            <a:off x="9640252" y="311265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6" name="Shape 4"/>
          <p:cNvSpPr/>
          <p:nvPr/>
        </p:nvSpPr>
        <p:spPr>
          <a:xfrm>
            <a:off x="11398151" y="28029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02343" y="3007043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20814" y="37101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 </a:t>
            </a: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بلقاس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القديمة</a:t>
            </a:r>
            <a:endParaRPr lang="en-US" sz="2200" dirty="0">
              <a:cs typeface="+mj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97547" y="4200525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11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3/1/2026 </a:t>
            </a:r>
            <a:endParaRPr lang="en-US" sz="1750" dirty="0">
              <a:cs typeface="+mj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217081" y="3143131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217081" y="311265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2" name="Shape 9"/>
          <p:cNvSpPr/>
          <p:nvPr/>
        </p:nvSpPr>
        <p:spPr>
          <a:xfrm>
            <a:off x="6974979" y="28029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9171" y="3007043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97642" y="37101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 </a:t>
            </a: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المطرية</a:t>
            </a:r>
            <a:endParaRPr lang="en-US" sz="2200" dirty="0">
              <a:cs typeface="+mj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474375" y="4200525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11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17/1/2026</a:t>
            </a:r>
            <a:endParaRPr lang="en-US" sz="1750" dirty="0">
              <a:cs typeface="+mj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93909" y="3143131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17" name="Shape 13"/>
          <p:cNvSpPr/>
          <p:nvPr/>
        </p:nvSpPr>
        <p:spPr>
          <a:xfrm>
            <a:off x="793909" y="311265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8" name="Shape 14"/>
          <p:cNvSpPr/>
          <p:nvPr/>
        </p:nvSpPr>
        <p:spPr>
          <a:xfrm>
            <a:off x="2551807" y="28029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5999" y="3007043"/>
            <a:ext cx="272177" cy="27217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74470" y="37101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 </a:t>
            </a: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بلقاس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الجديدة</a:t>
            </a:r>
            <a:endParaRPr lang="en-US" sz="2200" dirty="0">
              <a:cs typeface="+mj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051203" y="4200525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14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18/1/2026</a:t>
            </a:r>
            <a:endParaRPr lang="en-US" sz="1750" dirty="0">
              <a:cs typeface="+mj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93909" y="5387697"/>
            <a:ext cx="13042702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793909" y="5357217"/>
            <a:ext cx="13042702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24" name="Shape 19"/>
          <p:cNvSpPr/>
          <p:nvPr/>
        </p:nvSpPr>
        <p:spPr>
          <a:xfrm>
            <a:off x="6974979" y="504753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9171" y="5251609"/>
            <a:ext cx="272177" cy="27217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97642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ميت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فارس</a:t>
            </a:r>
            <a:endParaRPr lang="en-US" sz="2200" dirty="0">
              <a:cs typeface="+mj-cs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1051203" y="6445091"/>
            <a:ext cx="125281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26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15/2/2026</a:t>
            </a:r>
            <a:endParaRPr lang="en-US" sz="1750" dirty="0"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551432" y="1875031"/>
            <a:ext cx="4127540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050"/>
              </a:lnSpc>
              <a:buNone/>
            </a:pPr>
            <a:r>
              <a:rPr lang="en-US" sz="3250" b="1" u="sng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ثالثاً: قطاع دمياط</a:t>
            </a:r>
            <a:endParaRPr lang="en-US" sz="3250" u="sng" dirty="0">
              <a:cs typeface="+mj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3038" y="2672512"/>
            <a:ext cx="13185934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إجمالي </a:t>
            </a:r>
            <a:r>
              <a:rPr lang="en-US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29</a:t>
            </a:r>
            <a:r>
              <a:rPr lang="en-US" sz="160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عداد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ذكي تم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تركيبها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60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محطتين</a:t>
            </a:r>
            <a:endParaRPr lang="en-US" sz="1600" dirty="0">
              <a:cs typeface="+mj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179945" y="3508450"/>
            <a:ext cx="6499027" cy="1495306"/>
          </a:xfrm>
          <a:prstGeom prst="roundRect">
            <a:avLst>
              <a:gd name="adj" fmla="val 7338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7179945" y="3485590"/>
            <a:ext cx="6499027" cy="91440"/>
          </a:xfrm>
          <a:prstGeom prst="roundRect">
            <a:avLst>
              <a:gd name="adj" fmla="val 94794"/>
            </a:avLst>
          </a:prstGeom>
          <a:solidFill>
            <a:srgbClr val="4950BC"/>
          </a:solidFill>
          <a:ln/>
        </p:spPr>
      </p:sp>
      <p:sp>
        <p:nvSpPr>
          <p:cNvPr id="8" name="Shape 5"/>
          <p:cNvSpPr/>
          <p:nvPr/>
        </p:nvSpPr>
        <p:spPr>
          <a:xfrm>
            <a:off x="10119837" y="3198887"/>
            <a:ext cx="619125" cy="619125"/>
          </a:xfrm>
          <a:prstGeom prst="roundRect">
            <a:avLst>
              <a:gd name="adj" fmla="val 147692"/>
            </a:avLst>
          </a:prstGeom>
          <a:solidFill>
            <a:srgbClr val="4950B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5574" y="3384625"/>
            <a:ext cx="247650" cy="2476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39595" y="4024348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500"/>
              </a:lnSpc>
              <a:buNone/>
            </a:pPr>
            <a:r>
              <a:rPr lang="en-US" sz="20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</a:t>
            </a: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فارسكور</a:t>
            </a:r>
            <a:endParaRPr lang="en-US" sz="2000" dirty="0">
              <a:cs typeface="+mj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409141" y="4459402"/>
            <a:ext cx="6040636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18 </a:t>
            </a:r>
            <a:r>
              <a:rPr lang="en-US" sz="160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60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60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22/2/2026 </a:t>
            </a:r>
            <a:endParaRPr lang="en-US" sz="1600" dirty="0">
              <a:cs typeface="+mj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93038" y="3508450"/>
            <a:ext cx="6499146" cy="1495306"/>
          </a:xfrm>
          <a:prstGeom prst="roundRect">
            <a:avLst>
              <a:gd name="adj" fmla="val 7338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93038" y="3485590"/>
            <a:ext cx="6499146" cy="91440"/>
          </a:xfrm>
          <a:prstGeom prst="roundRect">
            <a:avLst>
              <a:gd name="adj" fmla="val 94794"/>
            </a:avLst>
          </a:prstGeom>
          <a:solidFill>
            <a:srgbClr val="4950BC"/>
          </a:solidFill>
          <a:ln/>
        </p:spPr>
      </p:sp>
      <p:sp>
        <p:nvSpPr>
          <p:cNvPr id="14" name="Shape 10"/>
          <p:cNvSpPr/>
          <p:nvPr/>
        </p:nvSpPr>
        <p:spPr>
          <a:xfrm>
            <a:off x="3433048" y="3198887"/>
            <a:ext cx="619125" cy="619125"/>
          </a:xfrm>
          <a:prstGeom prst="roundRect">
            <a:avLst>
              <a:gd name="adj" fmla="val 147692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8786" y="3384625"/>
            <a:ext cx="247650" cy="2476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52807" y="4024348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500"/>
              </a:lnSpc>
              <a:buNone/>
            </a:pPr>
            <a:r>
              <a:rPr lang="en-US" sz="20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 </a:t>
            </a:r>
            <a:r>
              <a:rPr lang="en-US" sz="20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أولاد</a:t>
            </a: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حمام</a:t>
            </a:r>
            <a:endParaRPr lang="en-US" sz="2000" dirty="0">
              <a:cs typeface="+mj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22233" y="4459402"/>
            <a:ext cx="604075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11 </a:t>
            </a:r>
            <a:r>
              <a:rPr lang="en-US" sz="160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60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60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8/3/2026</a:t>
            </a:r>
            <a:endParaRPr lang="en-US" sz="1600" dirty="0"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00091" y="228659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en-US" sz="3550" b="1" u="sng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رابعاً: قطاع كفر الشيخ</a:t>
            </a:r>
            <a:endParaRPr lang="en-US" sz="3550" u="sng" dirty="0"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3071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إجمالي 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20 عداد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ذكي تم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تركيبها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err="1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محطتين</a:t>
            </a:r>
            <a:endParaRPr lang="en-US" sz="1750" dirty="0">
              <a:cs typeface="+mj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428667" y="4265414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28667" y="4234934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6" name="Shape 4"/>
          <p:cNvSpPr/>
          <p:nvPr/>
        </p:nvSpPr>
        <p:spPr>
          <a:xfrm>
            <a:off x="10292417" y="392525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10496610" y="409539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1</a:t>
            </a:r>
            <a:endParaRPr lang="en-US" sz="2100" dirty="0">
              <a:cs typeface="+mj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86191" y="4832390"/>
            <a:ext cx="33917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 </a:t>
            </a: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كفر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الشيخ (66)</a:t>
            </a:r>
            <a:endParaRPr lang="en-US" sz="2200" dirty="0">
              <a:cs typeface="+mj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5961" y="532280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12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21/2/2026</a:t>
            </a:r>
            <a:endParaRPr lang="en-US" sz="1750" dirty="0">
              <a:cs typeface="+mj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52479" y="4331731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ar-EG" dirty="0">
              <a:cs typeface="+mj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4234934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540" y="392525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3861733" y="409539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2</a:t>
            </a:r>
            <a:endParaRPr lang="en-US" sz="2100" dirty="0">
              <a:cs typeface="+mj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80203" y="4832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 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أبو غنيمة</a:t>
            </a:r>
            <a:endParaRPr lang="en-US" sz="2200" dirty="0">
              <a:cs typeface="+mj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084" y="5322808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8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عدادات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7/3/2026</a:t>
            </a:r>
            <a:endParaRPr lang="en-US" sz="1750" dirty="0"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3A9642-C59B-4C93-9C62-0A869E784753}"/>
              </a:ext>
            </a:extLst>
          </p:cNvPr>
          <p:cNvSpPr/>
          <p:nvPr/>
        </p:nvSpPr>
        <p:spPr>
          <a:xfrm>
            <a:off x="4412974" y="1164312"/>
            <a:ext cx="942363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ar-EG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التداخل بين شركة شمال الدلتا لتوزيع الكهرباء والشركات الاخرى</a:t>
            </a:r>
            <a:endParaRPr lang="en-US" sz="3550" dirty="0">
              <a:cs typeface="+mj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8C4ED4-3A3C-4F6A-B47C-D97057A76CC6}"/>
              </a:ext>
            </a:extLst>
          </p:cNvPr>
          <p:cNvSpPr/>
          <p:nvPr/>
        </p:nvSpPr>
        <p:spPr>
          <a:xfrm>
            <a:off x="793790" y="21849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إجمالي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9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دات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ذ</a:t>
            </a:r>
            <a:r>
              <a:rPr lang="ar-SA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كية 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تم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err="1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تركيبها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بمغذيات التداخل </a:t>
            </a:r>
            <a:endParaRPr lang="en-US" sz="1750" dirty="0">
              <a:cs typeface="+mj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BE0A073-0305-4F0B-BF47-8E069A1E2D87}"/>
              </a:ext>
            </a:extLst>
          </p:cNvPr>
          <p:cNvSpPr/>
          <p:nvPr/>
        </p:nvSpPr>
        <p:spPr>
          <a:xfrm>
            <a:off x="9640252" y="3143131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822BF6-35B4-4F43-AF63-1CD89C21A852}"/>
              </a:ext>
            </a:extLst>
          </p:cNvPr>
          <p:cNvSpPr/>
          <p:nvPr/>
        </p:nvSpPr>
        <p:spPr>
          <a:xfrm>
            <a:off x="9640252" y="311265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8B91849-E0AF-481D-A0AD-41EF94380B2A}"/>
              </a:ext>
            </a:extLst>
          </p:cNvPr>
          <p:cNvSpPr/>
          <p:nvPr/>
        </p:nvSpPr>
        <p:spPr>
          <a:xfrm>
            <a:off x="11398151" y="28029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3154BFA-D4B2-4E27-9F98-258697DFC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2343" y="3007043"/>
            <a:ext cx="272177" cy="272177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C9D24A75-DCAF-4187-95CF-6B42418DCD7D}"/>
              </a:ext>
            </a:extLst>
          </p:cNvPr>
          <p:cNvSpPr/>
          <p:nvPr/>
        </p:nvSpPr>
        <p:spPr>
          <a:xfrm>
            <a:off x="10094000" y="3710107"/>
            <a:ext cx="34851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التداخل مع شركة جنوب الدلتا</a:t>
            </a:r>
          </a:p>
          <a:p>
            <a:pPr algn="ctr">
              <a:lnSpc>
                <a:spcPts val="2750"/>
              </a:lnSpc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محولات كفر شكر</a:t>
            </a:r>
            <a:endParaRPr lang="en-US" sz="2200" dirty="0"/>
          </a:p>
          <a:p>
            <a:pPr marL="0" indent="0" algn="ctr" rtl="1">
              <a:lnSpc>
                <a:spcPts val="2750"/>
              </a:lnSpc>
              <a:buNone/>
            </a:pPr>
            <a:endParaRPr lang="en-US" sz="2200" dirty="0">
              <a:cs typeface="+mj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B933134-9812-476F-805F-668B8B4712E7}"/>
              </a:ext>
            </a:extLst>
          </p:cNvPr>
          <p:cNvSpPr/>
          <p:nvPr/>
        </p:nvSpPr>
        <p:spPr>
          <a:xfrm>
            <a:off x="9897427" y="4632127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5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ات 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13/1/2026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endParaRPr lang="en-US" sz="1750" dirty="0">
              <a:cs typeface="+mj-c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1DFD0EB-FCCB-4CB1-B53F-A1BFBC0AA119}"/>
              </a:ext>
            </a:extLst>
          </p:cNvPr>
          <p:cNvSpPr/>
          <p:nvPr/>
        </p:nvSpPr>
        <p:spPr>
          <a:xfrm>
            <a:off x="5217081" y="3143131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E9CD911-1F58-490B-9DFA-AB85DDC9C7AB}"/>
              </a:ext>
            </a:extLst>
          </p:cNvPr>
          <p:cNvSpPr/>
          <p:nvPr/>
        </p:nvSpPr>
        <p:spPr>
          <a:xfrm>
            <a:off x="5217081" y="311265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79F18B2-894F-46C6-85D1-F2017AD413D3}"/>
              </a:ext>
            </a:extLst>
          </p:cNvPr>
          <p:cNvSpPr/>
          <p:nvPr/>
        </p:nvSpPr>
        <p:spPr>
          <a:xfrm>
            <a:off x="6974979" y="28029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15DD8440-9109-443F-A670-23BAABEC5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9171" y="3007043"/>
            <a:ext cx="272177" cy="272177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D027F989-EB8B-4C52-951B-A628BA53BB81}"/>
              </a:ext>
            </a:extLst>
          </p:cNvPr>
          <p:cNvSpPr/>
          <p:nvPr/>
        </p:nvSpPr>
        <p:spPr>
          <a:xfrm>
            <a:off x="5897642" y="37101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التداخل مع شركة جنوب الدلتا</a:t>
            </a:r>
          </a:p>
          <a:p>
            <a:pPr algn="ctr">
              <a:lnSpc>
                <a:spcPts val="2750"/>
              </a:lnSpc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محولات منية سمنود</a:t>
            </a:r>
            <a:endParaRPr lang="en-US" sz="2200" dirty="0">
              <a:cs typeface="+mj-cs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4741648-5A33-4F74-9304-6C82A218A620}"/>
              </a:ext>
            </a:extLst>
          </p:cNvPr>
          <p:cNvSpPr/>
          <p:nvPr/>
        </p:nvSpPr>
        <p:spPr>
          <a:xfrm>
            <a:off x="5474375" y="4554157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3/2/2026</a:t>
            </a:r>
            <a:endParaRPr lang="en-US" sz="1750" dirty="0">
              <a:cs typeface="+mj-cs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36A51BD-73CE-4B43-97B6-DBE5BD0E0441}"/>
              </a:ext>
            </a:extLst>
          </p:cNvPr>
          <p:cNvSpPr/>
          <p:nvPr/>
        </p:nvSpPr>
        <p:spPr>
          <a:xfrm>
            <a:off x="793909" y="3143131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9A5C9CC5-6AA3-460A-9A0C-CE255FE6D9D1}"/>
              </a:ext>
            </a:extLst>
          </p:cNvPr>
          <p:cNvSpPr/>
          <p:nvPr/>
        </p:nvSpPr>
        <p:spPr>
          <a:xfrm>
            <a:off x="793909" y="311265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A3E0929-524B-4AC6-A729-0A984D9538DA}"/>
              </a:ext>
            </a:extLst>
          </p:cNvPr>
          <p:cNvSpPr/>
          <p:nvPr/>
        </p:nvSpPr>
        <p:spPr>
          <a:xfrm>
            <a:off x="2551807" y="28029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A1AA0BE5-DE87-452A-865A-7D3686EA5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5999" y="3007043"/>
            <a:ext cx="272177" cy="272177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9A4391E0-6213-452A-9221-23DE3D0D06A7}"/>
              </a:ext>
            </a:extLst>
          </p:cNvPr>
          <p:cNvSpPr/>
          <p:nvPr/>
        </p:nvSpPr>
        <p:spPr>
          <a:xfrm>
            <a:off x="1474470" y="37101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التداخل مع شركة القناة</a:t>
            </a:r>
          </a:p>
          <a:p>
            <a:pPr algn="ctr">
              <a:lnSpc>
                <a:spcPts val="2750"/>
              </a:lnSpc>
            </a:pPr>
            <a:r>
              <a:rPr lang="ar-EG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لوحة توزيع حانوت</a:t>
            </a:r>
            <a:endParaRPr lang="en-US" sz="2200" dirty="0">
              <a:cs typeface="+mj-cs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4B5DE18B-C629-47CD-B2E1-D828DA9DC474}"/>
              </a:ext>
            </a:extLst>
          </p:cNvPr>
          <p:cNvSpPr/>
          <p:nvPr/>
        </p:nvSpPr>
        <p:spPr>
          <a:xfrm>
            <a:off x="1058596" y="4488299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 </a:t>
            </a:r>
            <a:r>
              <a:rPr lang="en-US" sz="1750" b="1" dirty="0" err="1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عداد</a:t>
            </a: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بتاريخ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30/11/2025</a:t>
            </a:r>
            <a:endParaRPr lang="en-US" sz="1750" dirty="0">
              <a:cs typeface="+mj-cs"/>
            </a:endParaRPr>
          </a:p>
        </p:txBody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EBEC0187-1B84-4617-8017-65A0FAF6B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9171" y="5251609"/>
            <a:ext cx="272177" cy="27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53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E7C09FB1-C439-401C-A8D7-9C626602F0AB}"/>
              </a:ext>
            </a:extLst>
          </p:cNvPr>
          <p:cNvSpPr txBox="1"/>
          <p:nvPr/>
        </p:nvSpPr>
        <p:spPr>
          <a:xfrm>
            <a:off x="1344325" y="347582"/>
            <a:ext cx="1177786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3600" b="1" dirty="0"/>
              <a:t>مثال:-</a:t>
            </a:r>
            <a:endParaRPr lang="ar-EG" b="1" dirty="0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8BB0B503-0C87-4BF8-8A14-44F91E006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656" y="670747"/>
            <a:ext cx="6217206" cy="716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37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2895" y="636746"/>
            <a:ext cx="5928836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3366"/>
                </a:solidFill>
                <a:latin typeface="Inter Bold" pitchFamily="34" charset="0"/>
                <a:ea typeface="Inter Bold" pitchFamily="34" charset="-122"/>
                <a:cs typeface="+mj-cs"/>
              </a:rPr>
              <a:t>اتزان محطة محولات شربين</a:t>
            </a:r>
            <a:endParaRPr lang="en-US" sz="4350" dirty="0"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8669" y="1768554"/>
            <a:ext cx="13073063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1750" b="1" dirty="0" err="1">
                <a:latin typeface="Inter" pitchFamily="34" charset="0"/>
                <a:ea typeface="Inter" pitchFamily="34" charset="-122"/>
                <a:cs typeface="+mj-cs"/>
              </a:rPr>
              <a:t>الفترة</a:t>
            </a:r>
            <a:r>
              <a:rPr lang="en-US" sz="1750" b="1" dirty="0">
                <a:latin typeface="Inter" pitchFamily="34" charset="0"/>
                <a:ea typeface="Inter" pitchFamily="34" charset="-122"/>
                <a:cs typeface="+mj-cs"/>
              </a:rPr>
              <a:t>: 25/2/2026 </a:t>
            </a:r>
            <a:r>
              <a:rPr lang="ar-EG" sz="1750" b="1" dirty="0">
                <a:latin typeface="Inter" pitchFamily="34" charset="0"/>
                <a:ea typeface="Inter" pitchFamily="34" charset="-122"/>
                <a:cs typeface="+mj-cs"/>
              </a:rPr>
              <a:t>ا</a:t>
            </a:r>
            <a:r>
              <a:rPr lang="en-US" sz="1750" b="1" dirty="0" err="1">
                <a:latin typeface="Inter" pitchFamily="34" charset="0"/>
                <a:ea typeface="Inter" pitchFamily="34" charset="-122"/>
                <a:cs typeface="+mj-cs"/>
              </a:rPr>
              <a:t>لى</a:t>
            </a:r>
            <a:r>
              <a:rPr lang="en-US" sz="1750" b="1" dirty="0">
                <a:latin typeface="Inter" pitchFamily="34" charset="0"/>
                <a:ea typeface="Inter" pitchFamily="34" charset="-122"/>
                <a:cs typeface="+mj-cs"/>
              </a:rPr>
              <a:t> 1/3/2026</a:t>
            </a:r>
            <a:endParaRPr lang="en-US" sz="1750" b="1" dirty="0">
              <a:cs typeface="+mj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8669" y="2366605"/>
            <a:ext cx="13073063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تحليل مفصل لأداء محطة محولات شربين خلال الفترة المحددة، مع التركيز على استهلاك الطاقة ونسبة الخطأ.</a:t>
            </a:r>
            <a:endParaRPr lang="en-US" sz="1750" dirty="0">
              <a:cs typeface="+mj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75970" y="3075861"/>
            <a:ext cx="4377959" cy="87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6900"/>
              </a:lnSpc>
              <a:buNone/>
            </a:pPr>
            <a:r>
              <a:rPr lang="en-US" sz="6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5288387</a:t>
            </a:r>
            <a:endParaRPr lang="en-US" sz="6900" dirty="0">
              <a:cs typeface="+mj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337602" y="4229457"/>
            <a:ext cx="2852618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إجمالي استهلاك المغذيات</a:t>
            </a:r>
            <a:endParaRPr lang="en-US" sz="2150" dirty="0">
              <a:cs typeface="+mj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75971" y="4707969"/>
            <a:ext cx="4175760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كيلووات ساعة</a:t>
            </a:r>
            <a:endParaRPr lang="en-US" sz="1750" dirty="0">
              <a:cs typeface="+mj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27320" y="3075861"/>
            <a:ext cx="4175879" cy="87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6900"/>
              </a:lnSpc>
              <a:buNone/>
            </a:pPr>
            <a:r>
              <a:rPr lang="en-US" sz="6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1561</a:t>
            </a:r>
            <a:endParaRPr lang="en-US" sz="6900" dirty="0">
              <a:cs typeface="+mj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24669" y="4229457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إجمالي استهلاك الخدمة</a:t>
            </a:r>
            <a:endParaRPr lang="en-US" sz="2150" dirty="0">
              <a:cs typeface="+mj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27320" y="4707969"/>
            <a:ext cx="4175879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كيلووات ساعة</a:t>
            </a:r>
            <a:endParaRPr lang="en-US" sz="1750" dirty="0">
              <a:cs typeface="+mj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8669" y="3075861"/>
            <a:ext cx="4175879" cy="87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6900"/>
              </a:lnSpc>
              <a:buNone/>
            </a:pPr>
            <a:r>
              <a:rPr lang="en-US" sz="6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5286770</a:t>
            </a:r>
            <a:endParaRPr lang="en-US" sz="6900" dirty="0">
              <a:cs typeface="+mj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33632" y="4229457"/>
            <a:ext cx="2865953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إجمالي استهلاك المحولات</a:t>
            </a:r>
            <a:endParaRPr lang="en-US" sz="2150" dirty="0">
              <a:cs typeface="+mj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8669" y="4707969"/>
            <a:ext cx="4175879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كيلووات ساعة</a:t>
            </a:r>
            <a:endParaRPr lang="en-US" sz="1750" dirty="0">
              <a:cs typeface="+mj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27320" y="5608201"/>
            <a:ext cx="4175879" cy="87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6900"/>
              </a:lnSpc>
              <a:buNone/>
            </a:pPr>
            <a:r>
              <a:rPr lang="en-US" sz="6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-0.06%</a:t>
            </a:r>
            <a:endParaRPr lang="en-US" sz="6900" dirty="0">
              <a:cs typeface="+mj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24669" y="6761798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+mj-cs"/>
              </a:rPr>
              <a:t>نسبة الخطأ</a:t>
            </a:r>
            <a:endParaRPr lang="en-US" sz="2150" dirty="0"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6021" y="12702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كمية الطاقة المفقودة</a:t>
            </a:r>
            <a:endParaRPr lang="en-US" sz="4450" dirty="0"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326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نظرة عامة على كميات الطاقة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المفقودة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)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ك.و.س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( في محطات المحولات المختارة خلال الفترة المحددة.</a:t>
            </a:r>
            <a:endParaRPr lang="en-US" sz="1750" dirty="0">
              <a:cs typeface="+mj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050738"/>
            <a:ext cx="13042821" cy="3908584"/>
          </a:xfrm>
          <a:prstGeom prst="roundRect">
            <a:avLst>
              <a:gd name="adj" fmla="val 24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058358"/>
            <a:ext cx="13027581" cy="6417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95406" y="32020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المحطة</a:t>
            </a:r>
            <a:endParaRPr lang="en-US" sz="2200" dirty="0">
              <a:cs typeface="+mj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91889" y="3202067"/>
            <a:ext cx="21441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يناير 2026</a:t>
            </a:r>
            <a:endParaRPr lang="en-US" sz="2200" dirty="0">
              <a:cs typeface="+mj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97334" y="3202067"/>
            <a:ext cx="21441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فبراير 2026</a:t>
            </a:r>
            <a:endParaRPr lang="en-US" sz="2200" dirty="0">
              <a:cs typeface="+mj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802779" y="3202067"/>
            <a:ext cx="27993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مارس 2026</a:t>
            </a:r>
            <a:endParaRPr lang="en-US" sz="2200" dirty="0">
              <a:cs typeface="+mj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1410" y="370010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11" name="Text 9"/>
          <p:cNvSpPr/>
          <p:nvPr/>
        </p:nvSpPr>
        <p:spPr>
          <a:xfrm>
            <a:off x="1028462" y="384381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محطة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محولات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فارسكور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مغذي كفر العرب (2)</a:t>
            </a:r>
            <a:endParaRPr lang="en-US" sz="1750" b="1" dirty="0">
              <a:cs typeface="+mj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91889" y="384381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426,095</a:t>
            </a:r>
            <a:endParaRPr lang="en-US" sz="1750" dirty="0">
              <a:cs typeface="+mj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97334" y="384381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288,645</a:t>
            </a:r>
            <a:endParaRPr lang="en-US" sz="1750" dirty="0">
              <a:cs typeface="+mj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802779" y="384381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--</a:t>
            </a:r>
            <a:endParaRPr lang="en-US" sz="1750" dirty="0">
              <a:cs typeface="+mj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9030" y="435042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16" name="Text 14"/>
          <p:cNvSpPr/>
          <p:nvPr/>
        </p:nvSpPr>
        <p:spPr>
          <a:xfrm>
            <a:off x="1028462" y="449413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محطة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محولات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المطرية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المحول رئيسي (1)</a:t>
            </a:r>
            <a:endParaRPr lang="en-US" sz="1750" b="1" dirty="0">
              <a:cs typeface="+mj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91889" y="449413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532,499</a:t>
            </a:r>
            <a:endParaRPr lang="en-US" sz="1750" dirty="0">
              <a:cs typeface="+mj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97334" y="449413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18,518</a:t>
            </a:r>
            <a:endParaRPr lang="en-US" sz="1750" dirty="0">
              <a:cs typeface="+mj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802779" y="449413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--</a:t>
            </a:r>
            <a:endParaRPr lang="en-US" sz="1750" dirty="0">
              <a:cs typeface="+mj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95406" y="492888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ar-EG" dirty="0">
              <a:cs typeface="+mj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8462" y="514445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محطة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محولات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كفر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الشيخ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) </a:t>
            </a:r>
            <a:r>
              <a:rPr lang="ar-EG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66 </a:t>
            </a:r>
            <a:r>
              <a:rPr lang="ar-EG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ك.ف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(</a:t>
            </a:r>
            <a:r>
              <a:rPr lang="ar-EG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مغذي </a:t>
            </a:r>
            <a:r>
              <a:rPr lang="en-US" sz="1750" b="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دخميس</a:t>
            </a:r>
            <a:endParaRPr lang="en-US" sz="1750" b="1" dirty="0">
              <a:cs typeface="+mj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91889" y="514445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702,000</a:t>
            </a:r>
            <a:endParaRPr lang="en-US" sz="1750" dirty="0">
              <a:cs typeface="+mj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197334" y="514445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1,482,000</a:t>
            </a:r>
            <a:endParaRPr lang="en-US" sz="1750" dirty="0">
              <a:cs typeface="+mj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802779" y="514445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--</a:t>
            </a:r>
            <a:endParaRPr lang="en-US" sz="1750" dirty="0">
              <a:cs typeface="+mj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1410" y="565106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462" y="579477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محطة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محولات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كفر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الشيخ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) </a:t>
            </a:r>
            <a:r>
              <a:rPr lang="ar-EG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66 </a:t>
            </a:r>
            <a:r>
              <a:rPr lang="ar-EG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ك.ف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(</a:t>
            </a:r>
            <a:r>
              <a:rPr lang="ar-EG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مغذي البنوان</a:t>
            </a:r>
            <a:endParaRPr lang="en-US" sz="1750" b="1" dirty="0">
              <a:cs typeface="+mj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91889" y="579477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527,000</a:t>
            </a:r>
            <a:endParaRPr lang="en-US" sz="1750" dirty="0">
              <a:cs typeface="+mj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97334" y="579477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1,113,400</a:t>
            </a:r>
            <a:endParaRPr lang="en-US" sz="1750" dirty="0">
              <a:cs typeface="+mj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802779" y="579477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--</a:t>
            </a:r>
            <a:endParaRPr lang="en-US" sz="1750" dirty="0">
              <a:cs typeface="+mj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6650" y="630138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28462" y="6445091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محطة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محولات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بلقاس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الجديدة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مغذي المياه (3)</a:t>
            </a:r>
            <a:endParaRPr lang="en-US" sz="1750" b="1" dirty="0">
              <a:cs typeface="+mj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591889" y="644509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--</a:t>
            </a:r>
            <a:endParaRPr lang="en-US" sz="1750" dirty="0">
              <a:cs typeface="+mj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197334" y="644509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211,650</a:t>
            </a:r>
            <a:endParaRPr lang="en-US" sz="1750" dirty="0">
              <a:cs typeface="+mj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802779" y="644509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+mj-cs"/>
              </a:rPr>
              <a:t>74,700</a:t>
            </a:r>
            <a:endParaRPr lang="en-US" sz="1750" dirty="0"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C349787B-F719-4AFB-B5E8-6D7071CFD0D7}"/>
              </a:ext>
            </a:extLst>
          </p:cNvPr>
          <p:cNvSpPr txBox="1"/>
          <p:nvPr/>
        </p:nvSpPr>
        <p:spPr>
          <a:xfrm>
            <a:off x="1344325" y="347582"/>
            <a:ext cx="1177786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3600" b="1" dirty="0"/>
              <a:t>مثال:-</a:t>
            </a:r>
            <a:endParaRPr lang="ar-EG" b="1" dirty="0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6FC92593-AEF5-437D-AC34-DB31A39E9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780" y="670747"/>
            <a:ext cx="5374958" cy="715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84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8774" y="1237893"/>
            <a:ext cx="87378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معايرة</a:t>
            </a:r>
            <a:r>
              <a:rPr lang="en-US" sz="44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en-US" sz="4450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المحولات</a:t>
            </a:r>
            <a:r>
              <a:rPr lang="en-US" sz="44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 </a:t>
            </a:r>
            <a:r>
              <a:rPr lang="en-US" sz="4450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الرئيسية</a:t>
            </a:r>
            <a:r>
              <a:rPr lang="ar-EG" sz="44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 في محطات المحولات</a:t>
            </a:r>
            <a:endParaRPr lang="en-US" sz="4450" dirty="0">
              <a:cs typeface="+mj-cs"/>
            </a:endParaRPr>
          </a:p>
          <a:p>
            <a:pPr marL="0" indent="0" algn="r" rtl="1">
              <a:lnSpc>
                <a:spcPts val="5550"/>
              </a:lnSpc>
              <a:buNone/>
            </a:pPr>
            <a:endParaRPr lang="en-US" sz="4450" dirty="0"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003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قائمة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بالمحولات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التي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EG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تم </a:t>
            </a:r>
            <a:r>
              <a:rPr lang="en-US" sz="1750" dirty="0" err="1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معاير</a:t>
            </a:r>
            <a:r>
              <a:rPr lang="ar-EG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تها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err="1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لضمان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الكفاءة التشغيلية.</a:t>
            </a:r>
            <a:endParaRPr lang="en-US" sz="1750" dirty="0">
              <a:cs typeface="+mj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40252" y="3018353"/>
            <a:ext cx="4196358" cy="823198"/>
          </a:xfrm>
          <a:prstGeom prst="roundRect">
            <a:avLst>
              <a:gd name="adj" fmla="val 11573"/>
            </a:avLst>
          </a:prstGeom>
          <a:solidFill>
            <a:srgbClr val="003366"/>
          </a:solidFill>
          <a:ln w="7620">
            <a:solidFill>
              <a:srgbClr val="194C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66941" y="3252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ميت فارس</a:t>
            </a:r>
            <a:endParaRPr lang="en-US" sz="2200" dirty="0">
              <a:cs typeface="+mj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17081" y="3018353"/>
            <a:ext cx="4196358" cy="823198"/>
          </a:xfrm>
          <a:prstGeom prst="roundRect">
            <a:avLst>
              <a:gd name="adj" fmla="val 11573"/>
            </a:avLst>
          </a:prstGeom>
          <a:solidFill>
            <a:srgbClr val="003366"/>
          </a:solidFill>
          <a:ln w="7620">
            <a:solidFill>
              <a:srgbClr val="194C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3769" y="3252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قولنجيل</a:t>
            </a:r>
            <a:endParaRPr lang="en-US" sz="2200" dirty="0">
              <a:cs typeface="+mj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20597" y="3252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بلقاس القديمة</a:t>
            </a:r>
            <a:endParaRPr lang="en-US" sz="2200" dirty="0">
              <a:cs typeface="+mj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66941" y="4302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بلقاس الجديدة</a:t>
            </a:r>
            <a:endParaRPr lang="en-US" sz="2200" dirty="0">
              <a:cs typeface="+mj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0133" y="4068366"/>
            <a:ext cx="4196358" cy="823198"/>
          </a:xfrm>
          <a:prstGeom prst="roundRect">
            <a:avLst>
              <a:gd name="adj" fmla="val 11573"/>
            </a:avLst>
          </a:prstGeom>
          <a:solidFill>
            <a:srgbClr val="003366"/>
          </a:solidFill>
          <a:ln w="7620">
            <a:solidFill>
              <a:srgbClr val="194C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66821" y="4302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المطرية</a:t>
            </a:r>
            <a:endParaRPr lang="en-US" sz="2200" dirty="0">
              <a:cs typeface="+mj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17081" y="4118062"/>
            <a:ext cx="4196358" cy="823198"/>
          </a:xfrm>
          <a:prstGeom prst="roundRect">
            <a:avLst>
              <a:gd name="adj" fmla="val 11573"/>
            </a:avLst>
          </a:prstGeom>
          <a:solidFill>
            <a:srgbClr val="003366"/>
          </a:solidFill>
          <a:ln w="7620">
            <a:solidFill>
              <a:srgbClr val="194C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3769" y="4352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السنبلاوين القديمة</a:t>
            </a:r>
            <a:endParaRPr lang="en-US" sz="2200" dirty="0">
              <a:cs typeface="+mj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40252" y="5118378"/>
            <a:ext cx="4196358" cy="823198"/>
          </a:xfrm>
          <a:prstGeom prst="roundRect">
            <a:avLst>
              <a:gd name="adj" fmla="val 11573"/>
            </a:avLst>
          </a:prstGeom>
          <a:solidFill>
            <a:srgbClr val="003366"/>
          </a:solidFill>
          <a:ln w="7620">
            <a:solidFill>
              <a:srgbClr val="194C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66941" y="5352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السنبلاوين الجديدة</a:t>
            </a:r>
            <a:endParaRPr lang="en-US" sz="2200" dirty="0">
              <a:cs typeface="+mj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217081" y="5118378"/>
            <a:ext cx="4196358" cy="823198"/>
          </a:xfrm>
          <a:prstGeom prst="roundRect">
            <a:avLst>
              <a:gd name="adj" fmla="val 11573"/>
            </a:avLst>
          </a:prstGeom>
          <a:solidFill>
            <a:srgbClr val="003366"/>
          </a:solidFill>
          <a:ln w="7620">
            <a:solidFill>
              <a:srgbClr val="194C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6583" y="5352812"/>
            <a:ext cx="31824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كفر </a:t>
            </a:r>
            <a:r>
              <a:rPr lang="en-US" sz="22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الشيخ</a:t>
            </a: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 )</a:t>
            </a:r>
            <a:r>
              <a:rPr lang="ar-EG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66 </a:t>
            </a:r>
            <a:r>
              <a:rPr lang="ar-EG" sz="22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ك.ف</a:t>
            </a:r>
            <a:r>
              <a:rPr lang="ar-EG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)</a:t>
            </a:r>
            <a:endParaRPr lang="en-US" sz="2200" dirty="0">
              <a:cs typeface="+mj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909" y="3029033"/>
            <a:ext cx="4196358" cy="823198"/>
          </a:xfrm>
          <a:prstGeom prst="roundRect">
            <a:avLst>
              <a:gd name="adj" fmla="val 11573"/>
            </a:avLst>
          </a:prstGeom>
          <a:solidFill>
            <a:srgbClr val="003366"/>
          </a:solidFill>
          <a:ln w="7620">
            <a:solidFill>
              <a:srgbClr val="194C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597" y="32634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أبو غنيمة</a:t>
            </a:r>
            <a:endParaRPr lang="en-US" sz="2200" dirty="0">
              <a:cs typeface="+mj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86288" y="5118378"/>
            <a:ext cx="4196359" cy="823198"/>
          </a:xfrm>
          <a:prstGeom prst="roundRect">
            <a:avLst>
              <a:gd name="adj" fmla="val 11573"/>
            </a:avLst>
          </a:prstGeom>
          <a:solidFill>
            <a:srgbClr val="003366"/>
          </a:solidFill>
          <a:ln w="7620">
            <a:solidFill>
              <a:srgbClr val="194C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12978" y="5352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فارسكور</a:t>
            </a:r>
            <a:endParaRPr lang="en-US" sz="2200" dirty="0">
              <a:cs typeface="+mj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3909" y="4118062"/>
            <a:ext cx="4196359" cy="823198"/>
          </a:xfrm>
          <a:prstGeom prst="roundRect">
            <a:avLst>
              <a:gd name="adj" fmla="val 11573"/>
            </a:avLst>
          </a:prstGeom>
          <a:solidFill>
            <a:srgbClr val="003366"/>
          </a:solidFill>
          <a:ln w="7620">
            <a:solidFill>
              <a:srgbClr val="194C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599" y="4352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+mj-cs"/>
              </a:rPr>
              <a:t>محطة أولاد حمام</a:t>
            </a:r>
            <a:endParaRPr lang="en-US" sz="2200" dirty="0"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54E8345C-2E4B-4271-A80E-69E69DD3BFC2}"/>
              </a:ext>
            </a:extLst>
          </p:cNvPr>
          <p:cNvSpPr txBox="1"/>
          <p:nvPr/>
        </p:nvSpPr>
        <p:spPr>
          <a:xfrm>
            <a:off x="1344325" y="347582"/>
            <a:ext cx="1177786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3600" b="1" dirty="0"/>
              <a:t>مثال:-</a:t>
            </a:r>
            <a:endParaRPr lang="ar-EG" b="1" dirty="0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3D0FC6C3-FA63-4CE3-A933-F76A2FE2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912" y="719267"/>
            <a:ext cx="9583864" cy="679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73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497</Words>
  <Application>Microsoft Office PowerPoint</Application>
  <PresentationFormat>Custom</PresentationFormat>
  <Paragraphs>139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Inter Bold</vt:lpstr>
      <vt:lpstr>Inter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>pc</dc:creator>
  <cp:lastModifiedBy>ITC</cp:lastModifiedBy>
  <cp:revision>21</cp:revision>
  <cp:lastPrinted>2026-03-17T11:46:20Z</cp:lastPrinted>
  <dcterms:created xsi:type="dcterms:W3CDTF">2026-03-17T10:11:43Z</dcterms:created>
  <dcterms:modified xsi:type="dcterms:W3CDTF">2026-03-17T12:04:00Z</dcterms:modified>
</cp:coreProperties>
</file>