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7" r:id="rId2"/>
    <p:sldId id="256" r:id="rId3"/>
    <p:sldId id="258" r:id="rId4"/>
    <p:sldId id="270" r:id="rId5"/>
    <p:sldId id="268" r:id="rId6"/>
    <p:sldId id="269" r:id="rId7"/>
    <p:sldId id="271" r:id="rId8"/>
    <p:sldId id="277" r:id="rId9"/>
    <p:sldId id="273" r:id="rId10"/>
    <p:sldId id="274" r:id="rId11"/>
    <p:sldId id="275" r:id="rId12"/>
    <p:sldId id="276" r:id="rId13"/>
    <p:sldId id="263" r:id="rId14"/>
    <p:sldId id="267" r:id="rId15"/>
  </p:sldIdLst>
  <p:sldSz cx="12192000" cy="6858000"/>
  <p:notesSz cx="6858000" cy="9144000"/>
  <p:embeddedFontLst>
    <p:embeddedFont>
      <p:font typeface="Cairo" panose="020B0604020202020204" charset="-78"/>
      <p:regular r:id="rId17"/>
      <p:bold r:id="rId18"/>
    </p:embeddedFont>
    <p:embeddedFont>
      <p:font typeface="Cairo ExtraBold" panose="020B0604020202020204" charset="-78"/>
      <p:bold r:id="rId19"/>
    </p:embeddedFont>
    <p:embeddedFont>
      <p:font typeface="Cairo SemiBold" panose="020B0604020202020204" charset="-78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8004ADE0-5459-41FD-A00F-4BAF228AD309}">
          <p14:sldIdLst>
            <p14:sldId id="257"/>
            <p14:sldId id="256"/>
            <p14:sldId id="258"/>
            <p14:sldId id="270"/>
            <p14:sldId id="268"/>
            <p14:sldId id="269"/>
            <p14:sldId id="271"/>
            <p14:sldId id="277"/>
            <p14:sldId id="273"/>
            <p14:sldId id="274"/>
            <p14:sldId id="275"/>
            <p14:sldId id="276"/>
            <p14:sldId id="263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6845818-97C9-4410-88CF-1DEE8A651293}">
  <a:tblStyle styleId="{66845818-97C9-4410-88CF-1DEE8A65129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r-EG"/>
              <a:t>تركيبات العدادات الذكية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A1-</a:t>
                    </a:r>
                    <a:fld id="{7FBA52B0-D4B1-4364-B801-7E60EB5643D6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7C1-4498-982B-F3425032FCF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A-1</a:t>
                    </a:r>
                    <a:fld id="{D0290A91-8BEA-46ED-8E39-10DA24A02D29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77C1-4498-982B-F3425032FCF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A1-</a:t>
                    </a:r>
                    <a:fld id="{C67B8BD2-E369-4CF7-B578-140A9E29D762}" type="VALUE">
                      <a:rPr lang="en-US" smtClean="0"/>
                      <a:pPr/>
                      <a:t>[VALUE]</a:t>
                    </a:fld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77C1-4498-982B-F3425032FC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القطاع</c:v>
                </c:pt>
                <c:pt idx="1">
                  <c:v>جنوب الدقهلية</c:v>
                </c:pt>
                <c:pt idx="2">
                  <c:v>شمال الدقهلية</c:v>
                </c:pt>
                <c:pt idx="3">
                  <c:v>كفر الشيخ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277</c:v>
                </c:pt>
                <c:pt idx="2">
                  <c:v>155</c:v>
                </c:pt>
                <c:pt idx="3">
                  <c:v>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C1-4498-982B-F3425032FC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A-2</a:t>
                    </a:r>
                    <a:fld id="{DB844212-004D-4F24-AEE4-9C83A6E73018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77C1-4498-982B-F3425032FCF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A2-131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7C1-4498-982B-F3425032FCF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A2-</a:t>
                    </a:r>
                    <a:fld id="{B58A41E2-1ED6-4839-82AF-14D36E7754FE}" type="VALUE">
                      <a:rPr lang="en-US" smtClean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A-77C1-4498-982B-F3425032FC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القطاع</c:v>
                </c:pt>
                <c:pt idx="1">
                  <c:v>جنوب الدقهلية</c:v>
                </c:pt>
                <c:pt idx="2">
                  <c:v>شمال الدقهلية</c:v>
                </c:pt>
                <c:pt idx="3">
                  <c:v>كفر الشيخ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164</c:v>
                </c:pt>
                <c:pt idx="2">
                  <c:v>131</c:v>
                </c:pt>
                <c:pt idx="3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C1-4498-982B-F3425032FC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3">
                    <a:tint val="100000"/>
                    <a:shade val="100000"/>
                    <a:satMod val="130000"/>
                  </a:schemeClr>
                </a:gs>
                <a:gs pos="100000">
                  <a:schemeClr val="accent3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A3-</a:t>
                    </a:r>
                    <a:fld id="{E22B65A5-9E36-470B-BF99-39FCBD0FF3B7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77C1-4498-982B-F3425032FCF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A3-5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7C1-4498-982B-F3425032FCF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A3-1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77C1-4498-982B-F3425032FC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القطاع</c:v>
                </c:pt>
                <c:pt idx="1">
                  <c:v>جنوب الدقهلية</c:v>
                </c:pt>
                <c:pt idx="2">
                  <c:v>شمال الدقهلية</c:v>
                </c:pt>
                <c:pt idx="3">
                  <c:v>كفر الشيخ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12</c:v>
                </c:pt>
                <c:pt idx="2">
                  <c:v>5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7C1-4498-982B-F3425032FC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00352992"/>
        <c:axId val="400357312"/>
      </c:barChart>
      <c:catAx>
        <c:axId val="400352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0357312"/>
        <c:crosses val="autoZero"/>
        <c:auto val="1"/>
        <c:lblAlgn val="ctr"/>
        <c:lblOffset val="100"/>
        <c:noMultiLvlLbl val="0"/>
      </c:catAx>
      <c:valAx>
        <c:axId val="400357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035299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ar-EG"/>
              <a:t>اجمالي عدادات كبار المشتركين على الجهد متوسط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1">
                    <a:tint val="100000"/>
                    <a:shade val="100000"/>
                    <a:satMod val="130000"/>
                  </a:schemeClr>
                </a:gs>
                <a:gs pos="100000">
                  <a:schemeClr val="accent1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القطاع</c:v>
                </c:pt>
                <c:pt idx="1">
                  <c:v>جنوب الدقهلية</c:v>
                </c:pt>
                <c:pt idx="2">
                  <c:v>شمال الدقهلية</c:v>
                </c:pt>
                <c:pt idx="3">
                  <c:v>كفر الشيخ</c:v>
                </c:pt>
                <c:pt idx="4">
                  <c:v>دمياط</c:v>
                </c:pt>
                <c:pt idx="5">
                  <c:v>المركب جديد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151</c:v>
                </c:pt>
                <c:pt idx="2">
                  <c:v>142</c:v>
                </c:pt>
                <c:pt idx="3">
                  <c:v>193</c:v>
                </c:pt>
                <c:pt idx="4">
                  <c:v>132</c:v>
                </c:pt>
                <c:pt idx="5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25-4A7B-A419-6C554D6664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dLbl>
              <c:idx val="1"/>
              <c:layout>
                <c:manualLayout>
                  <c:x val="0"/>
                  <c:y val="5.39062466839168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25-4A7B-A419-6C554D6664BD}"/>
                </c:ext>
              </c:extLst>
            </c:dLbl>
            <c:dLbl>
              <c:idx val="2"/>
              <c:layout>
                <c:manualLayout>
                  <c:x val="-3.1250000000000574E-3"/>
                  <c:y val="5.1562496828094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25-4A7B-A419-6C554D6664BD}"/>
                </c:ext>
              </c:extLst>
            </c:dLbl>
            <c:dLbl>
              <c:idx val="3"/>
              <c:layout>
                <c:manualLayout>
                  <c:x val="0"/>
                  <c:y val="4.21874974048045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25-4A7B-A419-6C554D6664BD}"/>
                </c:ext>
              </c:extLst>
            </c:dLbl>
            <c:dLbl>
              <c:idx val="4"/>
              <c:layout>
                <c:manualLayout>
                  <c:x val="1.5625000000000001E-3"/>
                  <c:y val="4.92187469722719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325-4A7B-A419-6C554D6664BD}"/>
                </c:ext>
              </c:extLst>
            </c:dLbl>
            <c:dLbl>
              <c:idx val="5"/>
              <c:layout>
                <c:manualLayout>
                  <c:x val="1.1458200967217994E-16"/>
                  <c:y val="4.6874997116449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325-4A7B-A419-6C554D6664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القطاع</c:v>
                </c:pt>
                <c:pt idx="1">
                  <c:v>جنوب الدقهلية</c:v>
                </c:pt>
                <c:pt idx="2">
                  <c:v>شمال الدقهلية</c:v>
                </c:pt>
                <c:pt idx="3">
                  <c:v>كفر الشيخ</c:v>
                </c:pt>
                <c:pt idx="4">
                  <c:v>دمياط</c:v>
                </c:pt>
                <c:pt idx="5">
                  <c:v>المركب جديد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213</c:v>
                </c:pt>
                <c:pt idx="2">
                  <c:v>198</c:v>
                </c:pt>
                <c:pt idx="3">
                  <c:v>275</c:v>
                </c:pt>
                <c:pt idx="4">
                  <c:v>211</c:v>
                </c:pt>
                <c:pt idx="5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25-4A7B-A419-6C554D6664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628088136"/>
        <c:axId val="628088496"/>
      </c:barChart>
      <c:catAx>
        <c:axId val="628088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8088496"/>
        <c:crosses val="autoZero"/>
        <c:auto val="1"/>
        <c:lblAlgn val="ctr"/>
        <c:lblOffset val="100"/>
        <c:noMultiLvlLbl val="0"/>
      </c:catAx>
      <c:valAx>
        <c:axId val="628088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808813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tmp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485312"/>
            <a:ext cx="12192000" cy="5938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19747" y="3614988"/>
            <a:ext cx="2901314" cy="134594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9143255" y="3863245"/>
            <a:ext cx="243015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600" b="1" i="0" u="none" strike="noStrike" cap="none" dirty="0">
                <a:solidFill>
                  <a:srgbClr val="F97316"/>
                </a:solidFill>
                <a:latin typeface="Cairo"/>
                <a:ea typeface="Cairo"/>
                <a:cs typeface="Cairo"/>
                <a:sym typeface="Cairo"/>
              </a:rPr>
              <a:t>تركيبات العدادات الذكية</a:t>
            </a:r>
            <a:endParaRPr sz="1600"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8919746" y="4225659"/>
            <a:ext cx="290131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تفصيل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1" i="0" u="none" strike="noStrike" cap="none" dirty="0" err="1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شامل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1" i="0" u="none" strike="noStrike" cap="none" dirty="0" err="1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لتركيب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1" i="0" u="none" strike="noStrike" cap="none" dirty="0" err="1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العدادات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1" i="0" u="none" strike="noStrike" cap="none" dirty="0" err="1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الذكية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1" i="0" u="none" strike="noStrike" cap="none" dirty="0" err="1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على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1" i="0" u="none" strike="noStrike" cap="none" dirty="0" err="1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الجهد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200" b="1" i="0" u="none" strike="noStrike" cap="none" dirty="0" err="1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المتوسط</a:t>
            </a:r>
            <a:r>
              <a:rPr lang="en-US" sz="1200" b="1" i="0" u="none" strike="noStrike" cap="none" dirty="0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ar-EG" sz="1200" b="1" i="0" u="none" strike="noStrike" cap="none" dirty="0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على القطاعات  الأربعة</a:t>
            </a:r>
            <a:endParaRPr sz="1600" b="1" dirty="0">
              <a:solidFill>
                <a:schemeClr val="tx1"/>
              </a:solidFill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1141440" y="2757650"/>
            <a:ext cx="102298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sng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المحتوى</a:t>
            </a:r>
            <a:r>
              <a:rPr lang="en-US" sz="2400" b="1" i="0" u="sng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400" b="1" i="0" u="sng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العام</a:t>
            </a:r>
            <a:r>
              <a:rPr lang="en-US" sz="2400" b="1" i="0" u="sng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400" b="1" i="0" u="sng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للعرض</a:t>
            </a:r>
            <a:r>
              <a:rPr lang="en-US" sz="2400" b="1" i="0" u="sng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400" b="1" i="0" u="sng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الفني</a:t>
            </a:r>
            <a:endParaRPr u="sng" dirty="0"/>
          </a:p>
        </p:txBody>
      </p:sp>
      <p:pic>
        <p:nvPicPr>
          <p:cNvPr id="3" name="Google Shape;100;p14" descr="image.png">
            <a:extLst>
              <a:ext uri="{FF2B5EF4-FFF2-40B4-BE49-F238E27FC236}">
                <a16:creationId xmlns:a16="http://schemas.microsoft.com/office/drawing/2014/main" id="{80618023-0ABB-F83F-A04E-39CEF2E1936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81350" y="3633944"/>
            <a:ext cx="2901314" cy="134594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4;p14">
            <a:extLst>
              <a:ext uri="{FF2B5EF4-FFF2-40B4-BE49-F238E27FC236}">
                <a16:creationId xmlns:a16="http://schemas.microsoft.com/office/drawing/2014/main" id="{B4E4DFAD-6B85-C68C-5F97-AD97EBC95F36}"/>
              </a:ext>
            </a:extLst>
          </p:cNvPr>
          <p:cNvSpPr txBox="1"/>
          <p:nvPr/>
        </p:nvSpPr>
        <p:spPr>
          <a:xfrm>
            <a:off x="5404858" y="3759092"/>
            <a:ext cx="243015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600" b="1" i="0" u="none" strike="noStrike" cap="none" dirty="0">
                <a:solidFill>
                  <a:srgbClr val="F97316"/>
                </a:solidFill>
                <a:latin typeface="Cairo"/>
                <a:ea typeface="Cairo"/>
                <a:cs typeface="Cairo"/>
                <a:sym typeface="Cairo"/>
              </a:rPr>
              <a:t>اجمالي الفحص العدادات بالمعمل المركزى</a:t>
            </a:r>
            <a:endParaRPr sz="1600" dirty="0"/>
          </a:p>
        </p:txBody>
      </p:sp>
      <p:sp>
        <p:nvSpPr>
          <p:cNvPr id="7" name="Google Shape;105;p14">
            <a:extLst>
              <a:ext uri="{FF2B5EF4-FFF2-40B4-BE49-F238E27FC236}">
                <a16:creationId xmlns:a16="http://schemas.microsoft.com/office/drawing/2014/main" id="{A6231840-5D48-EB56-8BD7-C8B72A8D63A1}"/>
              </a:ext>
            </a:extLst>
          </p:cNvPr>
          <p:cNvSpPr txBox="1"/>
          <p:nvPr/>
        </p:nvSpPr>
        <p:spPr>
          <a:xfrm>
            <a:off x="5181349" y="4244616"/>
            <a:ext cx="2796791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200" b="1" dirty="0">
                <a:solidFill>
                  <a:schemeClr val="tx1"/>
                </a:solidFill>
                <a:latin typeface="Cairo"/>
                <a:cs typeface="Cairo"/>
                <a:sym typeface="Cairo"/>
              </a:rPr>
              <a:t>فحص عدادات الأصدار ومسبق الدفع بالمعمل المركزي</a:t>
            </a:r>
            <a:endParaRPr sz="1200" b="1" dirty="0">
              <a:solidFill>
                <a:schemeClr val="tx1"/>
              </a:solidFill>
              <a:latin typeface="Cairo"/>
              <a:cs typeface="Cairo"/>
            </a:endParaRPr>
          </a:p>
        </p:txBody>
      </p:sp>
      <p:pic>
        <p:nvPicPr>
          <p:cNvPr id="9" name="Google Shape;100;p14" descr="image.png">
            <a:extLst>
              <a:ext uri="{FF2B5EF4-FFF2-40B4-BE49-F238E27FC236}">
                <a16:creationId xmlns:a16="http://schemas.microsoft.com/office/drawing/2014/main" id="{7A314B17-366A-C1AE-2B19-5C4C40DF8A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2954" y="3614308"/>
            <a:ext cx="2901314" cy="134594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04;p14">
            <a:extLst>
              <a:ext uri="{FF2B5EF4-FFF2-40B4-BE49-F238E27FC236}">
                <a16:creationId xmlns:a16="http://schemas.microsoft.com/office/drawing/2014/main" id="{88CD5C66-E59C-805D-E6C5-3251E1527287}"/>
              </a:ext>
            </a:extLst>
          </p:cNvPr>
          <p:cNvSpPr txBox="1"/>
          <p:nvPr/>
        </p:nvSpPr>
        <p:spPr>
          <a:xfrm>
            <a:off x="1666462" y="3739456"/>
            <a:ext cx="243015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600" b="1" i="0" u="none" strike="noStrike" cap="none" dirty="0">
                <a:solidFill>
                  <a:srgbClr val="F97316"/>
                </a:solidFill>
                <a:latin typeface="Cairo"/>
                <a:ea typeface="Cairo"/>
                <a:cs typeface="Cairo"/>
                <a:sym typeface="Cairo"/>
              </a:rPr>
              <a:t>عدد المشتركين المركبين على الجهد المتوسط</a:t>
            </a:r>
            <a:endParaRPr sz="1600" dirty="0"/>
          </a:p>
        </p:txBody>
      </p:sp>
      <p:sp>
        <p:nvSpPr>
          <p:cNvPr id="13" name="Google Shape;105;p14">
            <a:extLst>
              <a:ext uri="{FF2B5EF4-FFF2-40B4-BE49-F238E27FC236}">
                <a16:creationId xmlns:a16="http://schemas.microsoft.com/office/drawing/2014/main" id="{2B635FD7-5C5B-44B1-61A8-30C5EA8C329F}"/>
              </a:ext>
            </a:extLst>
          </p:cNvPr>
          <p:cNvSpPr txBox="1"/>
          <p:nvPr/>
        </p:nvSpPr>
        <p:spPr>
          <a:xfrm>
            <a:off x="1666462" y="4224980"/>
            <a:ext cx="241703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200" b="1" dirty="0">
                <a:solidFill>
                  <a:schemeClr val="tx1"/>
                </a:solidFill>
                <a:latin typeface="Cairo"/>
                <a:cs typeface="Cairo"/>
                <a:sym typeface="Cairo"/>
              </a:rPr>
              <a:t>عدد المشتركين المركبين على الجهد المتوسط</a:t>
            </a:r>
            <a:endParaRPr sz="1200" b="1" dirty="0">
              <a:solidFill>
                <a:schemeClr val="tx1"/>
              </a:solidFill>
              <a:latin typeface="Cairo"/>
              <a:cs typeface="Cairo"/>
            </a:endParaRPr>
          </a:p>
        </p:txBody>
      </p:sp>
      <p:pic>
        <p:nvPicPr>
          <p:cNvPr id="21" name="Google Shape;100;p14" descr="image.png">
            <a:extLst>
              <a:ext uri="{FF2B5EF4-FFF2-40B4-BE49-F238E27FC236}">
                <a16:creationId xmlns:a16="http://schemas.microsoft.com/office/drawing/2014/main" id="{8D6AE77B-75F2-49FB-6BA3-787119DF3DE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23710" y="5283786"/>
            <a:ext cx="3715690" cy="134594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04;p14">
            <a:extLst>
              <a:ext uri="{FF2B5EF4-FFF2-40B4-BE49-F238E27FC236}">
                <a16:creationId xmlns:a16="http://schemas.microsoft.com/office/drawing/2014/main" id="{7BC50BD4-0090-4FF6-B189-E0C50D9E71C5}"/>
              </a:ext>
            </a:extLst>
          </p:cNvPr>
          <p:cNvSpPr txBox="1"/>
          <p:nvPr/>
        </p:nvSpPr>
        <p:spPr>
          <a:xfrm>
            <a:off x="7325097" y="5532044"/>
            <a:ext cx="243015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600" b="1" i="0" u="none" strike="noStrike" cap="none" dirty="0">
                <a:solidFill>
                  <a:srgbClr val="F97316"/>
                </a:solidFill>
                <a:latin typeface="Cairo"/>
                <a:ea typeface="Cairo"/>
                <a:cs typeface="Cairo"/>
                <a:sym typeface="Cairo"/>
              </a:rPr>
              <a:t>توازن المحطات</a:t>
            </a:r>
            <a:endParaRPr sz="1600" dirty="0"/>
          </a:p>
        </p:txBody>
      </p:sp>
      <p:sp>
        <p:nvSpPr>
          <p:cNvPr id="25" name="Google Shape;105;p14">
            <a:extLst>
              <a:ext uri="{FF2B5EF4-FFF2-40B4-BE49-F238E27FC236}">
                <a16:creationId xmlns:a16="http://schemas.microsoft.com/office/drawing/2014/main" id="{32D1269C-0B43-90AD-A240-5067747BFE80}"/>
              </a:ext>
            </a:extLst>
          </p:cNvPr>
          <p:cNvSpPr txBox="1"/>
          <p:nvPr/>
        </p:nvSpPr>
        <p:spPr>
          <a:xfrm>
            <a:off x="7325097" y="5894458"/>
            <a:ext cx="241703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ar-EG" sz="1200" b="1" dirty="0">
                <a:solidFill>
                  <a:schemeClr val="tx1"/>
                </a:solidFill>
                <a:latin typeface="Cairo"/>
                <a:cs typeface="Cairo"/>
                <a:sym typeface="Cairo"/>
              </a:rPr>
              <a:t>عددالمحطات الموجودة بها نسبة الخطأ وتم اصلاحها</a:t>
            </a:r>
            <a:endParaRPr sz="1200" b="1" dirty="0">
              <a:solidFill>
                <a:schemeClr val="tx1"/>
              </a:solidFill>
              <a:latin typeface="Cairo"/>
              <a:cs typeface="Cairo"/>
            </a:endParaRPr>
          </a:p>
        </p:txBody>
      </p:sp>
      <p:pic>
        <p:nvPicPr>
          <p:cNvPr id="27" name="Google Shape;87;p13" descr="image.png">
            <a:extLst>
              <a:ext uri="{FF2B5EF4-FFF2-40B4-BE49-F238E27FC236}">
                <a16:creationId xmlns:a16="http://schemas.microsoft.com/office/drawing/2014/main" id="{2945A01E-0A5C-62DA-3EE8-80DDE4A7922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2425" y="489810"/>
            <a:ext cx="28003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88;p13">
            <a:extLst>
              <a:ext uri="{FF2B5EF4-FFF2-40B4-BE49-F238E27FC236}">
                <a16:creationId xmlns:a16="http://schemas.microsoft.com/office/drawing/2014/main" id="{61F86FC6-3E48-5C4B-ADA4-D75B594FC11C}"/>
              </a:ext>
            </a:extLst>
          </p:cNvPr>
          <p:cNvSpPr txBox="1"/>
          <p:nvPr/>
        </p:nvSpPr>
        <p:spPr>
          <a:xfrm>
            <a:off x="1973330" y="785486"/>
            <a:ext cx="856607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sng" strike="noStrike" cap="none" dirty="0" err="1">
                <a:solidFill>
                  <a:srgbClr val="0F172A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قطاع</a:t>
            </a:r>
            <a:r>
              <a:rPr lang="en-US" sz="3150" b="0" i="0" u="sng" strike="noStrike" cap="none" dirty="0">
                <a:solidFill>
                  <a:srgbClr val="0F172A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 </a:t>
            </a:r>
            <a:r>
              <a:rPr lang="en-US" sz="3150" b="0" i="0" u="sng" strike="noStrike" cap="none" dirty="0" err="1">
                <a:solidFill>
                  <a:srgbClr val="0F172A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العدادات</a:t>
            </a:r>
            <a:r>
              <a:rPr lang="en-US" sz="3150" b="0" i="0" u="sng" strike="noStrike" cap="none" dirty="0">
                <a:solidFill>
                  <a:srgbClr val="0F172A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 </a:t>
            </a:r>
            <a:r>
              <a:rPr lang="en-US" sz="3150" b="0" i="0" u="sng" strike="noStrike" cap="none" dirty="0" err="1">
                <a:solidFill>
                  <a:srgbClr val="0F172A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والدفع</a:t>
            </a:r>
            <a:r>
              <a:rPr lang="en-US" sz="3150" b="0" i="0" u="sng" strike="noStrike" cap="none" dirty="0">
                <a:solidFill>
                  <a:srgbClr val="0F172A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 </a:t>
            </a:r>
            <a:r>
              <a:rPr lang="en-US" sz="3150" b="0" i="0" u="sng" strike="noStrike" cap="none" dirty="0" err="1">
                <a:solidFill>
                  <a:srgbClr val="0F172A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المسبق</a:t>
            </a:r>
            <a:endParaRPr u="sng" dirty="0"/>
          </a:p>
        </p:txBody>
      </p:sp>
      <p:pic>
        <p:nvPicPr>
          <p:cNvPr id="115" name="Image 1" descr="preencoded.png">
            <a:extLst>
              <a:ext uri="{FF2B5EF4-FFF2-40B4-BE49-F238E27FC236}">
                <a16:creationId xmlns:a16="http://schemas.microsoft.com/office/drawing/2014/main" id="{156E3AB9-C8D2-F3AF-FD5F-A04E98C154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3768" y="118967"/>
            <a:ext cx="2063993" cy="1950096"/>
          </a:xfrm>
          <a:prstGeom prst="rect">
            <a:avLst/>
          </a:prstGeom>
        </p:spPr>
      </p:pic>
      <p:pic>
        <p:nvPicPr>
          <p:cNvPr id="4" name="Google Shape;100;p14" descr="image.png">
            <a:extLst>
              <a:ext uri="{FF2B5EF4-FFF2-40B4-BE49-F238E27FC236}">
                <a16:creationId xmlns:a16="http://schemas.microsoft.com/office/drawing/2014/main" id="{5A43EDDC-7326-DE98-AC09-B157135466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2134" y="5346138"/>
            <a:ext cx="3715690" cy="134594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04;p14">
            <a:extLst>
              <a:ext uri="{FF2B5EF4-FFF2-40B4-BE49-F238E27FC236}">
                <a16:creationId xmlns:a16="http://schemas.microsoft.com/office/drawing/2014/main" id="{E54D2106-2B34-717D-6725-52EFB811532E}"/>
              </a:ext>
            </a:extLst>
          </p:cNvPr>
          <p:cNvSpPr txBox="1"/>
          <p:nvPr/>
        </p:nvSpPr>
        <p:spPr>
          <a:xfrm>
            <a:off x="3313521" y="5471285"/>
            <a:ext cx="243015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600" b="1" i="0" u="none" strike="noStrike" cap="none" dirty="0">
                <a:solidFill>
                  <a:srgbClr val="F97316"/>
                </a:solidFill>
                <a:latin typeface="Cairo"/>
                <a:ea typeface="Cairo"/>
                <a:cs typeface="Cairo"/>
                <a:sym typeface="Cairo"/>
              </a:rPr>
              <a:t>تركيب عدادات مسبق الدفع</a:t>
            </a:r>
            <a:endParaRPr sz="1600" dirty="0"/>
          </a:p>
        </p:txBody>
      </p:sp>
      <p:sp>
        <p:nvSpPr>
          <p:cNvPr id="12" name="Google Shape;105;p14">
            <a:extLst>
              <a:ext uri="{FF2B5EF4-FFF2-40B4-BE49-F238E27FC236}">
                <a16:creationId xmlns:a16="http://schemas.microsoft.com/office/drawing/2014/main" id="{3D201988-4140-F0BD-B248-0B62B86010BA}"/>
              </a:ext>
            </a:extLst>
          </p:cNvPr>
          <p:cNvSpPr txBox="1"/>
          <p:nvPr/>
        </p:nvSpPr>
        <p:spPr>
          <a:xfrm>
            <a:off x="2812134" y="5956810"/>
            <a:ext cx="3636191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ar-EG" sz="1200" b="1" dirty="0">
                <a:solidFill>
                  <a:schemeClr val="tx1"/>
                </a:solidFill>
                <a:latin typeface="Cairo"/>
                <a:cs typeface="Cairo"/>
                <a:sym typeface="Cairo"/>
              </a:rPr>
              <a:t>تركيبات العدادات مسبق الدفع ( احلال-جديد-كودي عميل منصة</a:t>
            </a:r>
            <a:endParaRPr sz="1200" b="1" dirty="0">
              <a:solidFill>
                <a:schemeClr val="tx1"/>
              </a:solidFill>
              <a:latin typeface="Cairo"/>
              <a:cs typeface="Cai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85;p13" descr="image.png">
            <a:extLst>
              <a:ext uri="{FF2B5EF4-FFF2-40B4-BE49-F238E27FC236}">
                <a16:creationId xmlns:a16="http://schemas.microsoft.com/office/drawing/2014/main" id="{51A3B7BD-BB3F-1B5E-0D44-29EC494933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7230" y="1343025"/>
            <a:ext cx="10913745" cy="874873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91;p13">
            <a:extLst>
              <a:ext uri="{FF2B5EF4-FFF2-40B4-BE49-F238E27FC236}">
                <a16:creationId xmlns:a16="http://schemas.microsoft.com/office/drawing/2014/main" id="{2D1334DA-71A0-618A-3D08-6F6B3580A7E8}"/>
              </a:ext>
            </a:extLst>
          </p:cNvPr>
          <p:cNvSpPr txBox="1"/>
          <p:nvPr/>
        </p:nvSpPr>
        <p:spPr>
          <a:xfrm>
            <a:off x="1028700" y="1438275"/>
            <a:ext cx="10287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721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29" name="Google Shape;92;p13">
            <a:extLst>
              <a:ext uri="{FF2B5EF4-FFF2-40B4-BE49-F238E27FC236}">
                <a16:creationId xmlns:a16="http://schemas.microsoft.com/office/drawing/2014/main" id="{7AF3D78D-95F4-D8CD-0071-34FF3B36C3C8}"/>
              </a:ext>
            </a:extLst>
          </p:cNvPr>
          <p:cNvSpPr txBox="1"/>
          <p:nvPr/>
        </p:nvSpPr>
        <p:spPr>
          <a:xfrm>
            <a:off x="1019175" y="1833943"/>
            <a:ext cx="10287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600" b="1" i="0" u="none" strike="noStrike" cap="none" dirty="0">
                <a:solidFill>
                  <a:schemeClr val="tx1"/>
                </a:solidFill>
                <a:latin typeface="Cairo"/>
                <a:ea typeface="Cairo"/>
                <a:cs typeface="Cairo"/>
                <a:sym typeface="Cairo"/>
              </a:rPr>
              <a:t>عداد مسبق الدفع تم الفحص بالمعمل الهندسي</a:t>
            </a:r>
            <a:endParaRPr sz="2400" b="1" dirty="0">
              <a:solidFill>
                <a:schemeClr val="tx1"/>
              </a:solidFill>
            </a:endParaRPr>
          </a:p>
        </p:txBody>
      </p:sp>
      <p:pic>
        <p:nvPicPr>
          <p:cNvPr id="31" name="Google Shape;85;p13" descr="image.png">
            <a:extLst>
              <a:ext uri="{FF2B5EF4-FFF2-40B4-BE49-F238E27FC236}">
                <a16:creationId xmlns:a16="http://schemas.microsoft.com/office/drawing/2014/main" id="{3B386142-29F7-FD52-5FD8-E43961E0A4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7705" y="2514208"/>
            <a:ext cx="10913745" cy="106893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91;p13">
            <a:extLst>
              <a:ext uri="{FF2B5EF4-FFF2-40B4-BE49-F238E27FC236}">
                <a16:creationId xmlns:a16="http://schemas.microsoft.com/office/drawing/2014/main" id="{332F3BBF-F60B-165F-AF15-72F425515F0D}"/>
              </a:ext>
            </a:extLst>
          </p:cNvPr>
          <p:cNvSpPr txBox="1"/>
          <p:nvPr/>
        </p:nvSpPr>
        <p:spPr>
          <a:xfrm>
            <a:off x="1019175" y="2666608"/>
            <a:ext cx="1010364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800" b="0" i="0" u="none" strike="noStrike" cap="none" dirty="0">
                <a:solidFill>
                  <a:schemeClr val="bg2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75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67" name="Google Shape;92;p13">
            <a:extLst>
              <a:ext uri="{FF2B5EF4-FFF2-40B4-BE49-F238E27FC236}">
                <a16:creationId xmlns:a16="http://schemas.microsoft.com/office/drawing/2014/main" id="{98DF40FF-16AA-001C-E208-C72DFEC94835}"/>
              </a:ext>
            </a:extLst>
          </p:cNvPr>
          <p:cNvSpPr txBox="1"/>
          <p:nvPr/>
        </p:nvSpPr>
        <p:spPr>
          <a:xfrm>
            <a:off x="1019175" y="3094099"/>
            <a:ext cx="101036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ar-EG" sz="1600" b="1" dirty="0">
                <a:solidFill>
                  <a:schemeClr val="tx1"/>
                </a:solidFill>
                <a:latin typeface="Cairo"/>
                <a:cs typeface="Cairo"/>
                <a:sym typeface="Cairo"/>
              </a:rPr>
              <a:t>عداد اصدار تم الفحص بالمعمل الهندسي</a:t>
            </a:r>
            <a:endParaRPr sz="1600" b="1" dirty="0">
              <a:solidFill>
                <a:schemeClr val="tx1"/>
              </a:solidFill>
              <a:latin typeface="Cairo"/>
              <a:cs typeface="Cairo"/>
            </a:endParaRPr>
          </a:p>
        </p:txBody>
      </p:sp>
      <p:pic>
        <p:nvPicPr>
          <p:cNvPr id="69" name="Google Shape;85;p13" descr="image.png">
            <a:extLst>
              <a:ext uri="{FF2B5EF4-FFF2-40B4-BE49-F238E27FC236}">
                <a16:creationId xmlns:a16="http://schemas.microsoft.com/office/drawing/2014/main" id="{0FD57A45-3869-9980-3A18-17050F1FB2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7230" y="3841514"/>
            <a:ext cx="10913745" cy="106893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91;p13">
            <a:extLst>
              <a:ext uri="{FF2B5EF4-FFF2-40B4-BE49-F238E27FC236}">
                <a16:creationId xmlns:a16="http://schemas.microsoft.com/office/drawing/2014/main" id="{CBD7399F-97B8-BFD3-D9FE-A06C127C270F}"/>
              </a:ext>
            </a:extLst>
          </p:cNvPr>
          <p:cNvSpPr txBox="1"/>
          <p:nvPr/>
        </p:nvSpPr>
        <p:spPr>
          <a:xfrm>
            <a:off x="1019175" y="3993914"/>
            <a:ext cx="1003220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800" b="0" i="0" u="none" strike="noStrike" cap="none" dirty="0">
                <a:solidFill>
                  <a:schemeClr val="bg2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1077</a:t>
            </a:r>
            <a:endParaRPr sz="1600" dirty="0">
              <a:solidFill>
                <a:schemeClr val="bg2"/>
              </a:solidFill>
            </a:endParaRPr>
          </a:p>
        </p:txBody>
      </p:sp>
      <p:sp>
        <p:nvSpPr>
          <p:cNvPr id="73" name="Google Shape;92;p13">
            <a:extLst>
              <a:ext uri="{FF2B5EF4-FFF2-40B4-BE49-F238E27FC236}">
                <a16:creationId xmlns:a16="http://schemas.microsoft.com/office/drawing/2014/main" id="{DC461B96-6FD2-BD6C-E13D-70F4B0C41493}"/>
              </a:ext>
            </a:extLst>
          </p:cNvPr>
          <p:cNvSpPr txBox="1"/>
          <p:nvPr/>
        </p:nvSpPr>
        <p:spPr>
          <a:xfrm>
            <a:off x="914400" y="4565414"/>
            <a:ext cx="101369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ar-DZ" sz="1600" b="1" dirty="0">
                <a:solidFill>
                  <a:schemeClr val="tx1"/>
                </a:solidFill>
                <a:latin typeface="Cairo"/>
                <a:cs typeface="Cairo"/>
                <a:sym typeface="Cairo"/>
              </a:rPr>
              <a:t>عداد ذكي مركب على المتوسط</a:t>
            </a:r>
            <a:r>
              <a:rPr lang="ar-EG" sz="1600" b="1" dirty="0">
                <a:solidFill>
                  <a:schemeClr val="tx1"/>
                </a:solidFill>
                <a:latin typeface="Cairo"/>
                <a:cs typeface="Cairo"/>
                <a:sym typeface="Cairo"/>
              </a:rPr>
              <a:t> </a:t>
            </a:r>
            <a:endParaRPr lang="ar-DZ" sz="1600" b="1" dirty="0">
              <a:solidFill>
                <a:schemeClr val="tx1"/>
              </a:solidFill>
              <a:latin typeface="Cairo"/>
              <a:cs typeface="Cairo"/>
            </a:endParaRPr>
          </a:p>
        </p:txBody>
      </p:sp>
      <p:pic>
        <p:nvPicPr>
          <p:cNvPr id="75" name="Google Shape;85;p13" descr="image.png">
            <a:extLst>
              <a:ext uri="{FF2B5EF4-FFF2-40B4-BE49-F238E27FC236}">
                <a16:creationId xmlns:a16="http://schemas.microsoft.com/office/drawing/2014/main" id="{2AD3EF9D-B82E-0788-9B94-FDA6B7F6E94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7230" y="5153278"/>
            <a:ext cx="10913745" cy="116775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91;p13">
            <a:extLst>
              <a:ext uri="{FF2B5EF4-FFF2-40B4-BE49-F238E27FC236}">
                <a16:creationId xmlns:a16="http://schemas.microsoft.com/office/drawing/2014/main" id="{8C85E374-C544-970E-A596-E36A721D4D1E}"/>
              </a:ext>
            </a:extLst>
          </p:cNvPr>
          <p:cNvSpPr txBox="1"/>
          <p:nvPr/>
        </p:nvSpPr>
        <p:spPr>
          <a:xfrm>
            <a:off x="1019175" y="5305678"/>
            <a:ext cx="100107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ar-EG" sz="2800" dirty="0">
                <a:solidFill>
                  <a:schemeClr val="bg2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55,917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79" name="Google Shape;92;p13">
            <a:extLst>
              <a:ext uri="{FF2B5EF4-FFF2-40B4-BE49-F238E27FC236}">
                <a16:creationId xmlns:a16="http://schemas.microsoft.com/office/drawing/2014/main" id="{67C55424-DD09-5F32-C75A-8224A9006B46}"/>
              </a:ext>
            </a:extLst>
          </p:cNvPr>
          <p:cNvSpPr txBox="1"/>
          <p:nvPr/>
        </p:nvSpPr>
        <p:spPr>
          <a:xfrm>
            <a:off x="1028700" y="5877178"/>
            <a:ext cx="100012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 algn="ctr">
              <a:buFont typeface="Arial"/>
              <a:buNone/>
            </a:pPr>
            <a:r>
              <a:rPr lang="ar-EG" sz="1600" b="1" dirty="0">
                <a:solidFill>
                  <a:schemeClr val="tx1"/>
                </a:solidFill>
                <a:latin typeface="Cairo"/>
                <a:cs typeface="Cairo"/>
                <a:sym typeface="Cairo"/>
              </a:rPr>
              <a:t>اجمالى المرور على المشتركين جهد متوسط-جهد منخفض</a:t>
            </a:r>
            <a:endParaRPr sz="1600" b="1" dirty="0">
              <a:solidFill>
                <a:schemeClr val="tx1"/>
              </a:solidFill>
              <a:latin typeface="Cairo"/>
              <a:cs typeface="Cairo"/>
            </a:endParaRPr>
          </a:p>
        </p:txBody>
      </p:sp>
      <p:pic>
        <p:nvPicPr>
          <p:cNvPr id="3" name="Google Shape;103;p14" descr="image.png">
            <a:extLst>
              <a:ext uri="{FF2B5EF4-FFF2-40B4-BE49-F238E27FC236}">
                <a16:creationId xmlns:a16="http://schemas.microsoft.com/office/drawing/2014/main" id="{53F50357-3F81-F40D-B71C-3E8A35F4646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06175" y="6191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4;p14">
            <a:extLst>
              <a:ext uri="{FF2B5EF4-FFF2-40B4-BE49-F238E27FC236}">
                <a16:creationId xmlns:a16="http://schemas.microsoft.com/office/drawing/2014/main" id="{D30670C9-5245-1C9F-F2DC-04C90D75DC08}"/>
              </a:ext>
            </a:extLst>
          </p:cNvPr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88;p13">
            <a:extLst>
              <a:ext uri="{FF2B5EF4-FFF2-40B4-BE49-F238E27FC236}">
                <a16:creationId xmlns:a16="http://schemas.microsoft.com/office/drawing/2014/main" id="{3F2DF342-AFF3-4763-812B-BC15CE413A89}"/>
              </a:ext>
            </a:extLst>
          </p:cNvPr>
          <p:cNvSpPr txBox="1"/>
          <p:nvPr/>
        </p:nvSpPr>
        <p:spPr>
          <a:xfrm>
            <a:off x="581024" y="448360"/>
            <a:ext cx="1055179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800" b="0" i="0" u="sng" strike="noStrike" cap="none" dirty="0">
                <a:solidFill>
                  <a:srgbClr val="0F172A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اجماليات الفحص-التركيب-المرور على عدادات المشتركين</a:t>
            </a:r>
            <a:endParaRPr sz="1200" u="sng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5041" y="1317704"/>
            <a:ext cx="9142670" cy="4037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68075" y="61912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1531620" y="565607"/>
            <a:ext cx="961263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800" b="1" i="0" u="sng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بالقطاعات</a:t>
            </a:r>
            <a:r>
              <a:rPr lang="en-US" sz="2800" b="1" i="0" u="sng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- </a:t>
            </a:r>
            <a:r>
              <a:rPr lang="en-US" sz="2800" b="1" i="0" u="sng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تركيبات</a:t>
            </a:r>
            <a:r>
              <a:rPr lang="en-US" sz="2800" b="1" i="0" u="sng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800" b="1" i="0" u="sng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العدادات</a:t>
            </a:r>
            <a:r>
              <a:rPr lang="en-US" sz="2800" b="1" i="0" u="sng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800" b="1" i="0" u="sng" strike="noStrike" cap="none" dirty="0" err="1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الذكية</a:t>
            </a:r>
            <a:endParaRPr sz="1600" u="sng" dirty="0"/>
          </a:p>
        </p:txBody>
      </p:sp>
      <p:sp>
        <p:nvSpPr>
          <p:cNvPr id="148" name="Google Shape;148;p15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68C6960-F946-E9F6-0894-6A985BE6BFF4}"/>
              </a:ext>
            </a:extLst>
          </p:cNvPr>
          <p:cNvSpPr/>
          <p:nvPr/>
        </p:nvSpPr>
        <p:spPr>
          <a:xfrm>
            <a:off x="387307" y="2380438"/>
            <a:ext cx="2286147" cy="209712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478894" y="2837237"/>
            <a:ext cx="20915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F97316"/>
                </a:solidFill>
                <a:latin typeface="Cairo"/>
                <a:ea typeface="Cairo"/>
                <a:cs typeface="Cairo"/>
                <a:sym typeface="Cairo"/>
              </a:rPr>
              <a:t>إجمالي</a:t>
            </a:r>
            <a:r>
              <a:rPr lang="en-US" sz="2000" b="1" i="0" u="none" strike="noStrike" cap="none" dirty="0">
                <a:solidFill>
                  <a:srgbClr val="F97316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2000" b="1" i="0" u="none" strike="noStrike" cap="none" dirty="0" err="1">
                <a:solidFill>
                  <a:srgbClr val="F97316"/>
                </a:solidFill>
                <a:latin typeface="Cairo"/>
                <a:ea typeface="Cairo"/>
                <a:cs typeface="Cairo"/>
                <a:sym typeface="Cairo"/>
              </a:rPr>
              <a:t>العدادات</a:t>
            </a:r>
            <a:endParaRPr sz="2000"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766541" y="3601813"/>
            <a:ext cx="153015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97316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1100</a:t>
            </a:r>
            <a:endParaRPr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348AA36-FFD6-92B0-003C-FA0724755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5041" y="1438275"/>
            <a:ext cx="9142670" cy="36063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2BED23A-1E15-E1FE-8173-11F2240253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099913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70154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7;p15">
            <a:extLst>
              <a:ext uri="{FF2B5EF4-FFF2-40B4-BE49-F238E27FC236}">
                <a16:creationId xmlns:a16="http://schemas.microsoft.com/office/drawing/2014/main" id="{72876D10-123C-BAC0-0D87-DAD2B8FAB487}"/>
              </a:ext>
            </a:extLst>
          </p:cNvPr>
          <p:cNvSpPr txBox="1"/>
          <p:nvPr/>
        </p:nvSpPr>
        <p:spPr>
          <a:xfrm>
            <a:off x="674371" y="596384"/>
            <a:ext cx="105937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400" b="1" i="0" u="sng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اجمالي المرور علي كبار المشتركين جهد متوسط – جهد منخفض</a:t>
            </a:r>
            <a:endParaRPr u="sng" dirty="0"/>
          </a:p>
        </p:txBody>
      </p:sp>
      <p:sp>
        <p:nvSpPr>
          <p:cNvPr id="7" name="Google Shape;148;p15">
            <a:extLst>
              <a:ext uri="{FF2B5EF4-FFF2-40B4-BE49-F238E27FC236}">
                <a16:creationId xmlns:a16="http://schemas.microsoft.com/office/drawing/2014/main" id="{4B6235AB-DE0F-618C-53D2-BAF0B3F79299}"/>
              </a:ext>
            </a:extLst>
          </p:cNvPr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2;p15" descr="image.png">
            <a:extLst>
              <a:ext uri="{FF2B5EF4-FFF2-40B4-BE49-F238E27FC236}">
                <a16:creationId xmlns:a16="http://schemas.microsoft.com/office/drawing/2014/main" id="{37C8374C-7BAC-5A57-FD58-C9DBD84CB4B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68075" y="61912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7E076B-68A7-B8B0-D89A-98D586A55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23" y="1213366"/>
            <a:ext cx="10764752" cy="515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9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7;p15">
            <a:extLst>
              <a:ext uri="{FF2B5EF4-FFF2-40B4-BE49-F238E27FC236}">
                <a16:creationId xmlns:a16="http://schemas.microsoft.com/office/drawing/2014/main" id="{B270485E-2DBB-1E7E-23AA-66E360377B7F}"/>
              </a:ext>
            </a:extLst>
          </p:cNvPr>
          <p:cNvSpPr txBox="1"/>
          <p:nvPr/>
        </p:nvSpPr>
        <p:spPr>
          <a:xfrm>
            <a:off x="2686050" y="596384"/>
            <a:ext cx="74066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400" b="1" i="0" u="sng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اجمالي </a:t>
            </a:r>
            <a:r>
              <a:rPr lang="ar-EG" sz="2400" b="1" u="sng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عدادات </a:t>
            </a:r>
            <a:r>
              <a:rPr lang="ar-EG" sz="2400" b="1" i="0" u="sng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كبار المشتركين على الجهد متوسط</a:t>
            </a:r>
            <a:endParaRPr u="sng" dirty="0"/>
          </a:p>
        </p:txBody>
      </p:sp>
      <p:pic>
        <p:nvPicPr>
          <p:cNvPr id="7" name="Google Shape;122;p15" descr="image.png">
            <a:extLst>
              <a:ext uri="{FF2B5EF4-FFF2-40B4-BE49-F238E27FC236}">
                <a16:creationId xmlns:a16="http://schemas.microsoft.com/office/drawing/2014/main" id="{E3ABF920-C3D0-9FBC-F158-12E21F93DD8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68075" y="61912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48;p15">
            <a:extLst>
              <a:ext uri="{FF2B5EF4-FFF2-40B4-BE49-F238E27FC236}">
                <a16:creationId xmlns:a16="http://schemas.microsoft.com/office/drawing/2014/main" id="{7872E234-0AEC-936B-F51E-53FF8F022CFF}"/>
              </a:ext>
            </a:extLst>
          </p:cNvPr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FBC9AA-D5A2-5E59-4BB6-5AD5878E4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125" y="1499918"/>
            <a:ext cx="8411749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72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280AE8F-61BF-9CEE-D1AF-B10D285A0A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294029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18528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7;p15">
            <a:extLst>
              <a:ext uri="{FF2B5EF4-FFF2-40B4-BE49-F238E27FC236}">
                <a16:creationId xmlns:a16="http://schemas.microsoft.com/office/drawing/2014/main" id="{1F0F5307-BA35-19EB-6F67-8F88763FFD2A}"/>
              </a:ext>
            </a:extLst>
          </p:cNvPr>
          <p:cNvSpPr txBox="1"/>
          <p:nvPr/>
        </p:nvSpPr>
        <p:spPr>
          <a:xfrm>
            <a:off x="491490" y="596384"/>
            <a:ext cx="107765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/>
            <a:r>
              <a:rPr lang="ar-EG" sz="2400" b="1" u="sng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تركيبات العدادات مسبق الدفع خلال العام المالي 01/07/2025 - 31/05/2026</a:t>
            </a:r>
            <a:endParaRPr u="sng" dirty="0"/>
          </a:p>
        </p:txBody>
      </p:sp>
      <p:sp>
        <p:nvSpPr>
          <p:cNvPr id="7" name="Google Shape;148;p15">
            <a:extLst>
              <a:ext uri="{FF2B5EF4-FFF2-40B4-BE49-F238E27FC236}">
                <a16:creationId xmlns:a16="http://schemas.microsoft.com/office/drawing/2014/main" id="{CBCE4875-08B0-864A-5965-494222F0470E}"/>
              </a:ext>
            </a:extLst>
          </p:cNvPr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2;p15" descr="image.png">
            <a:extLst>
              <a:ext uri="{FF2B5EF4-FFF2-40B4-BE49-F238E27FC236}">
                <a16:creationId xmlns:a16="http://schemas.microsoft.com/office/drawing/2014/main" id="{EE8EFC13-866D-1997-0545-EF8276B7E31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68075" y="61912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DC9A0D-C9B3-D670-A83F-18C0BE160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863" y="1438275"/>
            <a:ext cx="7878274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174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4F7E7-D22C-F5DB-3582-59F33C84E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7;p15">
            <a:extLst>
              <a:ext uri="{FF2B5EF4-FFF2-40B4-BE49-F238E27FC236}">
                <a16:creationId xmlns:a16="http://schemas.microsoft.com/office/drawing/2014/main" id="{CAB3E84F-7248-A756-44F5-541A194EB661}"/>
              </a:ext>
            </a:extLst>
          </p:cNvPr>
          <p:cNvSpPr txBox="1"/>
          <p:nvPr/>
        </p:nvSpPr>
        <p:spPr>
          <a:xfrm>
            <a:off x="491490" y="596384"/>
            <a:ext cx="107765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/>
            <a:r>
              <a:rPr lang="ar-EG" sz="2400" b="1" u="sng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تركيبات العدادات مسبق الدفع خلال العام المالي 01/07/2025 - 31/05/2026</a:t>
            </a:r>
            <a:endParaRPr u="sng" dirty="0"/>
          </a:p>
        </p:txBody>
      </p:sp>
      <p:sp>
        <p:nvSpPr>
          <p:cNvPr id="7" name="Google Shape;148;p15">
            <a:extLst>
              <a:ext uri="{FF2B5EF4-FFF2-40B4-BE49-F238E27FC236}">
                <a16:creationId xmlns:a16="http://schemas.microsoft.com/office/drawing/2014/main" id="{458EE1E1-2353-8240-B3E1-E7E363EBCF31}"/>
              </a:ext>
            </a:extLst>
          </p:cNvPr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2;p15" descr="image.png">
            <a:extLst>
              <a:ext uri="{FF2B5EF4-FFF2-40B4-BE49-F238E27FC236}">
                <a16:creationId xmlns:a16="http://schemas.microsoft.com/office/drawing/2014/main" id="{90DF1E9A-108E-3602-FB71-FBC1557E699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68075" y="61912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EF302F-38AD-E162-5238-69111E3AC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580" y="1471339"/>
            <a:ext cx="7326630" cy="421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353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7;p15">
            <a:extLst>
              <a:ext uri="{FF2B5EF4-FFF2-40B4-BE49-F238E27FC236}">
                <a16:creationId xmlns:a16="http://schemas.microsoft.com/office/drawing/2014/main" id="{0667DA92-DB09-A300-F655-69FF24390C50}"/>
              </a:ext>
            </a:extLst>
          </p:cNvPr>
          <p:cNvSpPr txBox="1"/>
          <p:nvPr/>
        </p:nvSpPr>
        <p:spPr>
          <a:xfrm>
            <a:off x="491490" y="596384"/>
            <a:ext cx="107765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/>
            <a:r>
              <a:rPr lang="ar-EG" sz="2400" b="1" u="sng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تركيبات العدادات مسبق الدفع خلال العام المالي 01/07/2025 - 31/05/2026</a:t>
            </a:r>
            <a:endParaRPr u="sng" dirty="0"/>
          </a:p>
        </p:txBody>
      </p:sp>
      <p:sp>
        <p:nvSpPr>
          <p:cNvPr id="7" name="Google Shape;148;p15">
            <a:extLst>
              <a:ext uri="{FF2B5EF4-FFF2-40B4-BE49-F238E27FC236}">
                <a16:creationId xmlns:a16="http://schemas.microsoft.com/office/drawing/2014/main" id="{9EB3A2B9-06B8-A55C-F9E0-33778415FC26}"/>
              </a:ext>
            </a:extLst>
          </p:cNvPr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2;p15" descr="image.png">
            <a:extLst>
              <a:ext uri="{FF2B5EF4-FFF2-40B4-BE49-F238E27FC236}">
                <a16:creationId xmlns:a16="http://schemas.microsoft.com/office/drawing/2014/main" id="{80B36E1D-4FAB-6778-0C85-611658F1AD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68075" y="61912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CACB12-8391-FE50-67C3-19FEFBE9C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438275"/>
            <a:ext cx="7429500" cy="468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64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7;p15">
            <a:extLst>
              <a:ext uri="{FF2B5EF4-FFF2-40B4-BE49-F238E27FC236}">
                <a16:creationId xmlns:a16="http://schemas.microsoft.com/office/drawing/2014/main" id="{271D1E54-396D-749D-E0BE-11510C44F45F}"/>
              </a:ext>
            </a:extLst>
          </p:cNvPr>
          <p:cNvSpPr txBox="1"/>
          <p:nvPr/>
        </p:nvSpPr>
        <p:spPr>
          <a:xfrm>
            <a:off x="491490" y="596384"/>
            <a:ext cx="107765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/>
            <a:r>
              <a:rPr lang="ar-EG" sz="2400" b="1" u="sng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تركيبات العدادات مسبق الدفع خلال العام المالي 01/07/2025 - 31/05/2026</a:t>
            </a:r>
            <a:endParaRPr u="sng" dirty="0"/>
          </a:p>
        </p:txBody>
      </p:sp>
      <p:sp>
        <p:nvSpPr>
          <p:cNvPr id="7" name="Google Shape;148;p15">
            <a:extLst>
              <a:ext uri="{FF2B5EF4-FFF2-40B4-BE49-F238E27FC236}">
                <a16:creationId xmlns:a16="http://schemas.microsoft.com/office/drawing/2014/main" id="{9B4AD3B1-8086-C14B-3067-40A37542FAC0}"/>
              </a:ext>
            </a:extLst>
          </p:cNvPr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2;p15" descr="image.png">
            <a:extLst>
              <a:ext uri="{FF2B5EF4-FFF2-40B4-BE49-F238E27FC236}">
                <a16:creationId xmlns:a16="http://schemas.microsoft.com/office/drawing/2014/main" id="{E512D46F-15FC-64EE-B40C-54F189F6A34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68075" y="61912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D792A6-BCAB-07DD-3434-1C46E9B65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1457326"/>
            <a:ext cx="7029450" cy="463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6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7;p15">
            <a:extLst>
              <a:ext uri="{FF2B5EF4-FFF2-40B4-BE49-F238E27FC236}">
                <a16:creationId xmlns:a16="http://schemas.microsoft.com/office/drawing/2014/main" id="{E1BFCFB6-63F2-2E58-0A52-A23E7C78E389}"/>
              </a:ext>
            </a:extLst>
          </p:cNvPr>
          <p:cNvSpPr txBox="1"/>
          <p:nvPr/>
        </p:nvSpPr>
        <p:spPr>
          <a:xfrm>
            <a:off x="491490" y="596384"/>
            <a:ext cx="107765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/>
            <a:r>
              <a:rPr lang="ar-EG" sz="2400" b="1" u="sng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تركيبات العدادات مسبق الدفع خلال العام المالي 01/07/2025 - 31/05/2026</a:t>
            </a:r>
            <a:endParaRPr u="sng" dirty="0"/>
          </a:p>
        </p:txBody>
      </p:sp>
      <p:sp>
        <p:nvSpPr>
          <p:cNvPr id="9" name="Google Shape;148;p15">
            <a:extLst>
              <a:ext uri="{FF2B5EF4-FFF2-40B4-BE49-F238E27FC236}">
                <a16:creationId xmlns:a16="http://schemas.microsoft.com/office/drawing/2014/main" id="{DC95F7C6-E9A7-9F14-8CE6-52A0C81ADDB6}"/>
              </a:ext>
            </a:extLst>
          </p:cNvPr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2;p15" descr="image.png">
            <a:extLst>
              <a:ext uri="{FF2B5EF4-FFF2-40B4-BE49-F238E27FC236}">
                <a16:creationId xmlns:a16="http://schemas.microsoft.com/office/drawing/2014/main" id="{D5EA1D99-4A1F-9283-D652-1B75CBCB805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68075" y="61912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68FB99-67E4-EDDD-27CD-2DDB1F4F8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772" y="1438275"/>
            <a:ext cx="7018020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615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425" y="1882974"/>
            <a:ext cx="10877550" cy="1273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29975" y="61912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/>
        </p:nvSpPr>
        <p:spPr>
          <a:xfrm>
            <a:off x="1104900" y="2163852"/>
            <a:ext cx="102584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425" b="1" i="0" u="none" strike="noStrike" cap="none" dirty="0">
                <a:solidFill>
                  <a:srgbClr val="F97316"/>
                </a:solidFill>
                <a:latin typeface="Cairo"/>
                <a:ea typeface="Cairo"/>
                <a:cs typeface="Cairo"/>
                <a:sym typeface="Cairo"/>
              </a:rPr>
              <a:t>محطة محولات مطوبس</a:t>
            </a:r>
            <a:endParaRPr dirty="0"/>
          </a:p>
        </p:txBody>
      </p:sp>
      <p:sp>
        <p:nvSpPr>
          <p:cNvPr id="264" name="Google Shape;264;p20"/>
          <p:cNvSpPr txBox="1"/>
          <p:nvPr/>
        </p:nvSpPr>
        <p:spPr>
          <a:xfrm>
            <a:off x="885826" y="2454580"/>
            <a:ext cx="1047749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6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iro"/>
                <a:ea typeface="Cairo"/>
                <a:cs typeface="Cairo"/>
                <a:sym typeface="Cairo"/>
              </a:rPr>
              <a:t>تبين وجود نسبة خطأ فى اتزان المحطة نتيجة نقل المغذيات من المحول الرئسيي رقم (1) الي المحول الرئيسي رقم (3) وتم اصلاح الوضع واصبحت النسبة  سالب (0.2%)</a:t>
            </a:r>
            <a:endParaRPr sz="32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1104900" y="565607"/>
            <a:ext cx="1103137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2800" b="1" i="0" u="sng" strike="noStrike" cap="none" dirty="0">
                <a:solidFill>
                  <a:srgbClr val="0F172A"/>
                </a:solidFill>
                <a:latin typeface="Cairo"/>
                <a:ea typeface="Cairo"/>
                <a:cs typeface="Cairo"/>
                <a:sym typeface="Cairo"/>
              </a:rPr>
              <a:t>توازن محطات المحولات</a:t>
            </a:r>
            <a:endParaRPr sz="1600" u="sng" dirty="0"/>
          </a:p>
        </p:txBody>
      </p:sp>
      <p:sp>
        <p:nvSpPr>
          <p:cNvPr id="277" name="Google Shape;277;p20"/>
          <p:cNvSpPr/>
          <p:nvPr/>
        </p:nvSpPr>
        <p:spPr>
          <a:xfrm>
            <a:off x="581025" y="1171575"/>
            <a:ext cx="11029950" cy="190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55;p20" descr="image.png">
            <a:extLst>
              <a:ext uri="{FF2B5EF4-FFF2-40B4-BE49-F238E27FC236}">
                <a16:creationId xmlns:a16="http://schemas.microsoft.com/office/drawing/2014/main" id="{45F22D1F-E964-B358-951D-D86E11B8A6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425" y="3308998"/>
            <a:ext cx="10877550" cy="127362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62;p20">
            <a:extLst>
              <a:ext uri="{FF2B5EF4-FFF2-40B4-BE49-F238E27FC236}">
                <a16:creationId xmlns:a16="http://schemas.microsoft.com/office/drawing/2014/main" id="{3E6B1752-B487-5917-67B7-B9E8BB768878}"/>
              </a:ext>
            </a:extLst>
          </p:cNvPr>
          <p:cNvSpPr txBox="1"/>
          <p:nvPr/>
        </p:nvSpPr>
        <p:spPr>
          <a:xfrm>
            <a:off x="1104900" y="3589876"/>
            <a:ext cx="102584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425" b="1" i="0" u="none" strike="noStrike" cap="none" dirty="0">
                <a:solidFill>
                  <a:srgbClr val="F97316"/>
                </a:solidFill>
                <a:latin typeface="Cairo"/>
                <a:ea typeface="Cairo"/>
                <a:cs typeface="Cairo"/>
                <a:sym typeface="Cairo"/>
              </a:rPr>
              <a:t>محطة محولات بلقاس</a:t>
            </a:r>
            <a:endParaRPr dirty="0"/>
          </a:p>
        </p:txBody>
      </p:sp>
      <p:sp>
        <p:nvSpPr>
          <p:cNvPr id="14" name="Google Shape;264;p20">
            <a:extLst>
              <a:ext uri="{FF2B5EF4-FFF2-40B4-BE49-F238E27FC236}">
                <a16:creationId xmlns:a16="http://schemas.microsoft.com/office/drawing/2014/main" id="{404B8B98-511E-334D-FF86-12A3FE8F1732}"/>
              </a:ext>
            </a:extLst>
          </p:cNvPr>
          <p:cNvSpPr txBox="1"/>
          <p:nvPr/>
        </p:nvSpPr>
        <p:spPr>
          <a:xfrm>
            <a:off x="885826" y="3880604"/>
            <a:ext cx="1047749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6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iro"/>
                <a:ea typeface="Cairo"/>
                <a:cs typeface="Cairo"/>
                <a:sym typeface="Cairo"/>
              </a:rPr>
              <a:t>تبين وجود نسبة خطأ فى اتزان المحطة نتيجة تغيير محوات الجهد على المحول الرئيسي رقم (1) ومغذياته وتم برمجة العدادات على النسبة الجديدة واصبحت نسبة الخطا موجب (0.25%)</a:t>
            </a:r>
            <a:endParaRPr sz="32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Google Shape;255;p20" descr="image.png">
            <a:extLst>
              <a:ext uri="{FF2B5EF4-FFF2-40B4-BE49-F238E27FC236}">
                <a16:creationId xmlns:a16="http://schemas.microsoft.com/office/drawing/2014/main" id="{A30AE617-94AC-6135-2E46-36EE20F714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905" y="4686657"/>
            <a:ext cx="10877550" cy="127362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62;p20">
            <a:extLst>
              <a:ext uri="{FF2B5EF4-FFF2-40B4-BE49-F238E27FC236}">
                <a16:creationId xmlns:a16="http://schemas.microsoft.com/office/drawing/2014/main" id="{CDF31EFF-4D80-84DA-BC2B-C9D1C7897A48}"/>
              </a:ext>
            </a:extLst>
          </p:cNvPr>
          <p:cNvSpPr txBox="1"/>
          <p:nvPr/>
        </p:nvSpPr>
        <p:spPr>
          <a:xfrm>
            <a:off x="1135380" y="4967535"/>
            <a:ext cx="1025842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425" b="1" i="0" u="none" strike="noStrike" cap="none" dirty="0">
                <a:solidFill>
                  <a:srgbClr val="F97316"/>
                </a:solidFill>
                <a:latin typeface="Cairo"/>
                <a:ea typeface="Cairo"/>
                <a:cs typeface="Cairo"/>
                <a:sym typeface="Cairo"/>
              </a:rPr>
              <a:t>محطة محولات غرب المنصورة</a:t>
            </a:r>
            <a:endParaRPr dirty="0"/>
          </a:p>
        </p:txBody>
      </p:sp>
      <p:sp>
        <p:nvSpPr>
          <p:cNvPr id="20" name="Google Shape;264;p20">
            <a:extLst>
              <a:ext uri="{FF2B5EF4-FFF2-40B4-BE49-F238E27FC236}">
                <a16:creationId xmlns:a16="http://schemas.microsoft.com/office/drawing/2014/main" id="{670DF5E8-7F44-81C7-5092-0664C237E32E}"/>
              </a:ext>
            </a:extLst>
          </p:cNvPr>
          <p:cNvSpPr txBox="1"/>
          <p:nvPr/>
        </p:nvSpPr>
        <p:spPr>
          <a:xfrm>
            <a:off x="916306" y="5258263"/>
            <a:ext cx="1047749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600" b="0" i="0" u="none" strike="noStrike" cap="none" dirty="0">
                <a:solidFill>
                  <a:schemeClr val="bg2">
                    <a:lumMod val="75000"/>
                  </a:schemeClr>
                </a:solidFill>
                <a:latin typeface="Cairo"/>
                <a:ea typeface="Cairo"/>
                <a:cs typeface="Cairo"/>
                <a:sym typeface="Cairo"/>
              </a:rPr>
              <a:t>تبين وجود نسبة خطأ فى اتزان المحطة نتيجة وجود خطأ فى قراءة عداد المحول الرئيسي رقم (3) بتاريخ 1/2/2026 وتم اصلاح الوضع واصبحت النسبة موجب (0.11%)</a:t>
            </a:r>
            <a:endParaRPr sz="32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1542305"/>
            <a:ext cx="9525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08582" y="6257984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55807" y="6285770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4"/>
          <p:cNvSpPr txBox="1"/>
          <p:nvPr/>
        </p:nvSpPr>
        <p:spPr>
          <a:xfrm>
            <a:off x="3200638" y="3143994"/>
            <a:ext cx="579072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sng" strike="noStrike" cap="none" dirty="0" err="1">
                <a:solidFill>
                  <a:srgbClr val="0F172A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انتهى</a:t>
            </a:r>
            <a:r>
              <a:rPr lang="en-US" sz="3600" b="0" i="0" u="sng" strike="noStrike" cap="none" dirty="0">
                <a:solidFill>
                  <a:srgbClr val="0F172A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 </a:t>
            </a:r>
            <a:r>
              <a:rPr lang="en-US" sz="3600" b="0" i="0" u="sng" strike="noStrike" cap="none" dirty="0" err="1">
                <a:solidFill>
                  <a:srgbClr val="0F172A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العرض</a:t>
            </a:r>
            <a:r>
              <a:rPr lang="en-US" sz="3600" b="0" i="0" u="sng" strike="noStrike" cap="none" dirty="0">
                <a:solidFill>
                  <a:srgbClr val="0F172A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 </a:t>
            </a:r>
            <a:r>
              <a:rPr lang="en-US" sz="3600" b="0" i="0" u="sng" strike="noStrike" cap="none" dirty="0" err="1">
                <a:solidFill>
                  <a:srgbClr val="0F172A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الفني</a:t>
            </a:r>
            <a:endParaRPr u="sng" dirty="0"/>
          </a:p>
        </p:txBody>
      </p:sp>
      <p:sp>
        <p:nvSpPr>
          <p:cNvPr id="380" name="Google Shape;380;p24"/>
          <p:cNvSpPr txBox="1"/>
          <p:nvPr/>
        </p:nvSpPr>
        <p:spPr>
          <a:xfrm>
            <a:off x="2286000" y="4286994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نسعى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دوماً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في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شركة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شمال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الدلتا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لتوزيع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الكهرباء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لتطبيق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أحدث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معايير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التكنولوجيا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الذكية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والتحكم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الرقمي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لتحسين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موثوقية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القياس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وتحقيق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الاتزان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الكامل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لشبكة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التوزيع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Cairo"/>
                <a:ea typeface="Cairo"/>
                <a:cs typeface="Cairo"/>
                <a:sym typeface="Cairo"/>
              </a:rPr>
              <a:t>.</a:t>
            </a:r>
            <a:endParaRPr dirty="0"/>
          </a:p>
        </p:txBody>
      </p:sp>
      <p:sp>
        <p:nvSpPr>
          <p:cNvPr id="381" name="Google Shape;381;p24"/>
          <p:cNvSpPr txBox="1"/>
          <p:nvPr/>
        </p:nvSpPr>
        <p:spPr>
          <a:xfrm>
            <a:off x="4612957" y="6164163"/>
            <a:ext cx="32480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600" b="0" i="0" u="sng" strike="noStrike" cap="none" dirty="0">
                <a:solidFill>
                  <a:schemeClr val="tx1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قطاع العدادات والدفع المسبق</a:t>
            </a:r>
            <a:endParaRPr sz="1800" u="sng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339</Words>
  <Application>Microsoft Office PowerPoint</Application>
  <PresentationFormat>Widescreen</PresentationFormat>
  <Paragraphs>57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Cairo</vt:lpstr>
      <vt:lpstr>Calibri</vt:lpstr>
      <vt:lpstr>Cairo SemiBold</vt:lpstr>
      <vt:lpstr>Cairo ExtraBold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amir el seyoufi</cp:lastModifiedBy>
  <cp:revision>10</cp:revision>
  <dcterms:modified xsi:type="dcterms:W3CDTF">2026-06-16T11:07:28Z</dcterms:modified>
</cp:coreProperties>
</file>